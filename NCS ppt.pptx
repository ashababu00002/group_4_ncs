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Lst>
  <p:sldSz cx="9144000" cy="6858000" type="screen4x3"/>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gUg53lE2Jta09qf0dDiBA68sF6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FF5620-8301-45EF-A05B-A71902BD6AFF}">
  <a:tblStyle styleId="{08FF5620-8301-45EF-A05B-A71902BD6A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147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363" cy="511731"/>
          </a:xfrm>
          <a:prstGeom prst="rect">
            <a:avLst/>
          </a:prstGeom>
          <a:noFill/>
          <a:ln>
            <a:noFill/>
          </a:ln>
        </p:spPr>
        <p:txBody>
          <a:bodyPr spcFirstLastPara="1" wrap="square" lIns="99025" tIns="49500" rIns="99025" bIns="495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294" y="0"/>
            <a:ext cx="3076363" cy="511731"/>
          </a:xfrm>
          <a:prstGeom prst="rect">
            <a:avLst/>
          </a:prstGeom>
          <a:noFill/>
          <a:ln>
            <a:noFill/>
          </a:ln>
        </p:spPr>
        <p:txBody>
          <a:bodyPr spcFirstLastPara="1" wrap="square" lIns="99025" tIns="49500" rIns="99025" bIns="495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6"/>
            <a:ext cx="3076363" cy="511731"/>
          </a:xfrm>
          <a:prstGeom prst="rect">
            <a:avLst/>
          </a:prstGeom>
          <a:noFill/>
          <a:ln>
            <a:noFill/>
          </a:ln>
        </p:spPr>
        <p:txBody>
          <a:bodyPr spcFirstLastPara="1" wrap="square" lIns="99025" tIns="49500" rIns="99025" bIns="495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de-DE"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b" anchorCtr="0">
            <a:noAutofit/>
          </a:bodyPr>
          <a:lstStyle/>
          <a:p>
            <a:pPr marL="0" lvl="0" indent="0" algn="r" rtl="0">
              <a:lnSpc>
                <a:spcPct val="100000"/>
              </a:lnSpc>
              <a:spcBef>
                <a:spcPts val="0"/>
              </a:spcBef>
              <a:spcAft>
                <a:spcPts val="0"/>
              </a:spcAft>
              <a:buSzPts val="1200"/>
              <a:buNone/>
            </a:pPr>
            <a:fld id="{00000000-1234-1234-1234-123412341234}" type="slidenum">
              <a:rPr lang="de-DE"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161" name="Google Shape;161;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1: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4: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5: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5: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6: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7: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482600" lvl="0" indent="431800" algn="l" rtl="0">
              <a:lnSpc>
                <a:spcPct val="115000"/>
              </a:lnSpc>
              <a:spcBef>
                <a:spcPts val="500"/>
              </a:spcBef>
              <a:spcAft>
                <a:spcPts val="0"/>
              </a:spcAft>
              <a:buClr>
                <a:schemeClr val="dk1"/>
              </a:buClr>
              <a:buSzPts val="1100"/>
              <a:buFont typeface="Arial"/>
              <a:buNone/>
            </a:pPr>
            <a:endParaRPr sz="800"/>
          </a:p>
          <a:p>
            <a:pPr marL="0" lvl="0" indent="0" algn="l" rtl="0">
              <a:lnSpc>
                <a:spcPct val="100000"/>
              </a:lnSpc>
              <a:spcBef>
                <a:spcPts val="0"/>
              </a:spcBef>
              <a:spcAft>
                <a:spcPts val="0"/>
              </a:spcAft>
              <a:buSzPts val="1400"/>
              <a:buNone/>
            </a:pPr>
            <a:endParaRPr sz="800"/>
          </a:p>
        </p:txBody>
      </p:sp>
      <p:sp>
        <p:nvSpPr>
          <p:cNvPr id="242" name="Google Shape;242;p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8: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sz="800"/>
          </a:p>
        </p:txBody>
      </p:sp>
      <p:sp>
        <p:nvSpPr>
          <p:cNvPr id="256" name="Google Shape;256;p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sz="800"/>
          </a:p>
        </p:txBody>
      </p:sp>
      <p:sp>
        <p:nvSpPr>
          <p:cNvPr id="270" name="Google Shape;270;p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0: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1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1: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1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1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ea34c68371_0_21: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g2ea34c68371_0_2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ea2ee79703_0_8: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g2ea2ee79703_0_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ea34c68371_0_4: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r>
              <a:rPr lang="de-DE"/>
              <a:t>micro ampere/ cm^2</a:t>
            </a:r>
            <a:endParaRPr/>
          </a:p>
        </p:txBody>
      </p:sp>
      <p:sp>
        <p:nvSpPr>
          <p:cNvPr id="372" name="Google Shape;372;g2ea34c68371_0_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ea34c68371_0_52: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2ea34c68371_0_5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ea34c68371_0_66: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ea34c68371_0_66: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ea34c68371_0_82: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g2ea34c68371_0_8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ea2ee79703_0_21: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g2ea2ee79703_0_2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ea34c68371_0_38: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g2ea34c68371_0_3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3: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1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4:notes"/>
          <p:cNvSpPr txBox="1">
            <a:spLocks noGrp="1"/>
          </p:cNvSpPr>
          <p:nvPr>
            <p:ph type="body" idx="1"/>
          </p:nvPr>
        </p:nvSpPr>
        <p:spPr>
          <a:xfrm>
            <a:off x="709930" y="4861441"/>
            <a:ext cx="5679300" cy="4605600"/>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p1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15:notes"/>
          <p:cNvSpPr txBox="1">
            <a:spLocks noGrp="1"/>
          </p:cNvSpPr>
          <p:nvPr>
            <p:ph type="body" idx="1"/>
          </p:nvPr>
        </p:nvSpPr>
        <p:spPr>
          <a:xfrm>
            <a:off x="709930" y="4861441"/>
            <a:ext cx="5679440" cy="4605576"/>
          </a:xfrm>
          <a:prstGeom prst="rect">
            <a:avLst/>
          </a:prstGeom>
          <a:noFill/>
          <a:ln>
            <a:noFill/>
          </a:ln>
        </p:spPr>
        <p:txBody>
          <a:bodyPr spcFirstLastPara="1" wrap="square" lIns="99025" tIns="49500" rIns="99025" bIns="495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15: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elfolie" type="title">
  <p:cSld name="TITLE">
    <p:spTree>
      <p:nvGrpSpPr>
        <p:cNvPr id="1" name="Shape 15"/>
        <p:cNvGrpSpPr/>
        <p:nvPr/>
      </p:nvGrpSpPr>
      <p:grpSpPr>
        <a:xfrm>
          <a:off x="0" y="0"/>
          <a:ext cx="0" cy="0"/>
          <a:chOff x="0" y="0"/>
          <a:chExt cx="0" cy="0"/>
        </a:xfrm>
      </p:grpSpPr>
      <p:pic>
        <p:nvPicPr>
          <p:cNvPr id="16" name="Google Shape;16;p17"/>
          <p:cNvPicPr preferRelativeResize="0"/>
          <p:nvPr/>
        </p:nvPicPr>
        <p:blipFill rotWithShape="1">
          <a:blip r:embed="rId2">
            <a:alphaModFix/>
          </a:blip>
          <a:srcRect/>
          <a:stretch/>
        </p:blipFill>
        <p:spPr>
          <a:xfrm>
            <a:off x="1596231" y="128873"/>
            <a:ext cx="5951538" cy="1171575"/>
          </a:xfrm>
          <a:prstGeom prst="rect">
            <a:avLst/>
          </a:prstGeom>
          <a:noFill/>
          <a:ln>
            <a:noFill/>
          </a:ln>
        </p:spPr>
      </p:pic>
      <p:sp>
        <p:nvSpPr>
          <p:cNvPr id="17" name="Google Shape;17;p17"/>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pic>
        <p:nvPicPr>
          <p:cNvPr id="20" name="Google Shape;20;p17"/>
          <p:cNvPicPr preferRelativeResize="0"/>
          <p:nvPr/>
        </p:nvPicPr>
        <p:blipFill rotWithShape="1">
          <a:blip r:embed="rId3">
            <a:alphaModFix/>
          </a:blip>
          <a:srcRect/>
          <a:stretch/>
        </p:blipFill>
        <p:spPr>
          <a:xfrm>
            <a:off x="1504950" y="1356489"/>
            <a:ext cx="6134100" cy="3552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sp>
        <p:nvSpPr>
          <p:cNvPr id="22" name="Google Shape;22;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 name="Google Shape;3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3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6" name="Google Shape;36;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3" name="Google Shape;43;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3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3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1" name="Google Shape;51;p3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2" name="Google Shape;5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7" name="Google Shape;67;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7"/>
          <p:cNvSpPr>
            <a:spLocks noGrp="1"/>
          </p:cNvSpPr>
          <p:nvPr>
            <p:ph type="pic" idx="2"/>
          </p:nvPr>
        </p:nvSpPr>
        <p:spPr>
          <a:xfrm>
            <a:off x="1792288" y="612775"/>
            <a:ext cx="5486400" cy="4114800"/>
          </a:xfrm>
          <a:prstGeom prst="rect">
            <a:avLst/>
          </a:prstGeom>
          <a:noFill/>
          <a:ln>
            <a:noFill/>
          </a:ln>
        </p:spPr>
      </p:sp>
      <p:sp>
        <p:nvSpPr>
          <p:cNvPr id="74" name="Google Shape;74;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5" name="Google Shape;7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7" name="Google Shape;87;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6"/>
        <p:cNvGrpSpPr/>
        <p:nvPr/>
      </p:nvGrpSpPr>
      <p:grpSpPr>
        <a:xfrm>
          <a:off x="0" y="0"/>
          <a:ext cx="0" cy="0"/>
          <a:chOff x="0" y="0"/>
          <a:chExt cx="0" cy="0"/>
        </a:xfrm>
      </p:grpSpPr>
      <p:sp>
        <p:nvSpPr>
          <p:cNvPr id="97" name="Google Shape;97;p2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99" name="Google Shape;9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05" name="Google Shape;10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1" name="Google Shape;111;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2" name="Google Shape;11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18" name="Google Shape;118;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19" name="Google Shape;119;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20" name="Google Shape;120;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21" name="Google Shape;12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6" name="Google Shape;136;p2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7" name="Google Shape;13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7"/>
          <p:cNvSpPr>
            <a:spLocks noGrp="1"/>
          </p:cNvSpPr>
          <p:nvPr>
            <p:ph type="pic" idx="2"/>
          </p:nvPr>
        </p:nvSpPr>
        <p:spPr>
          <a:xfrm>
            <a:off x="1792288" y="612775"/>
            <a:ext cx="5486400" cy="4114800"/>
          </a:xfrm>
          <a:prstGeom prst="rect">
            <a:avLst/>
          </a:prstGeom>
          <a:noFill/>
          <a:ln>
            <a:noFill/>
          </a:ln>
        </p:spPr>
      </p:sp>
      <p:sp>
        <p:nvSpPr>
          <p:cNvPr id="143" name="Google Shape;143;p2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4" name="Google Shape;14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2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0" name="Google Shape;15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2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6" name="Google Shape;156;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2" name="Google Shape;92;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3" name="Google Shape;9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rive.google.com/drive/folders/1N9D68Uj6Y3R8_iYAE_dnP9J5BXUiDXRy?usp=sharing"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hyperlink" Target="https://www.geeksforgeeks.org/vgg-16-cnn-model/" TargetMode="External"/><Relationship Id="rId3" Type="http://schemas.openxmlformats.org/officeDocument/2006/relationships/image" Target="../media/image3.png"/><Relationship Id="rId7" Type="http://schemas.openxmlformats.org/officeDocument/2006/relationships/hyperlink" Target="https://paperswithcode.com/method/mobilenetv3" TargetMode="External"/><Relationship Id="rId12" Type="http://schemas.openxmlformats.org/officeDocument/2006/relationships/hyperlink" Target="https://colab.research.google.com/drive/1UgdCDY0RzptoOAY0iNbTSC_dcwGieEMU?usp=sharing#scrollTo=mSWZVxg2-9bi"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6.png"/><Relationship Id="rId11" Type="http://schemas.openxmlformats.org/officeDocument/2006/relationships/hyperlink" Target="https://colab.google/" TargetMode="External"/><Relationship Id="rId5" Type="http://schemas.openxmlformats.org/officeDocument/2006/relationships/image" Target="../media/image5.png"/><Relationship Id="rId10" Type="http://schemas.openxmlformats.org/officeDocument/2006/relationships/hyperlink" Target="https://jupyter.org/" TargetMode="External"/><Relationship Id="rId4" Type="http://schemas.openxmlformats.org/officeDocument/2006/relationships/image" Target="../media/image4.png"/><Relationship Id="rId9" Type="http://schemas.openxmlformats.org/officeDocument/2006/relationships/hyperlink" Target="https://www.kaggle.co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
          <p:cNvSpPr txBox="1"/>
          <p:nvPr/>
        </p:nvSpPr>
        <p:spPr>
          <a:xfrm>
            <a:off x="358800" y="4918500"/>
            <a:ext cx="8785200" cy="16927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2000"/>
              <a:buFont typeface="Questrial"/>
              <a:buNone/>
            </a:pPr>
            <a:r>
              <a:rPr lang="en-US" sz="2000" dirty="0">
                <a:solidFill>
                  <a:schemeClr val="bg2">
                    <a:lumMod val="60000"/>
                    <a:lumOff val="40000"/>
                  </a:schemeClr>
                </a:solidFill>
              </a:rPr>
              <a:t>Implement a deep-learning pipeline for the classification of pneumonia in X-ray images.</a:t>
            </a:r>
          </a:p>
          <a:p>
            <a:pPr marL="0" marR="0" lvl="0" indent="0" algn="ctr" rtl="0">
              <a:lnSpc>
                <a:spcPct val="100000"/>
              </a:lnSpc>
              <a:spcBef>
                <a:spcPts val="0"/>
              </a:spcBef>
              <a:spcAft>
                <a:spcPts val="0"/>
              </a:spcAft>
              <a:buClr>
                <a:srgbClr val="0070C0"/>
              </a:buClr>
              <a:buSzPts val="2000"/>
              <a:buFont typeface="Questrial"/>
              <a:buNone/>
            </a:pPr>
            <a:r>
              <a:rPr lang="de-DE" sz="1600" b="1" i="0" u="none" strike="noStrike" cap="none" dirty="0">
                <a:solidFill>
                  <a:srgbClr val="0070C0"/>
                </a:solidFill>
                <a:latin typeface="Times New Roman"/>
                <a:ea typeface="Times New Roman"/>
                <a:cs typeface="Times New Roman"/>
                <a:sym typeface="Times New Roman"/>
              </a:rPr>
              <a:t>Alan Abraham,Asha Babu,Athira Chandran,Manoli Bh</a:t>
            </a:r>
            <a:r>
              <a:rPr lang="de-DE" sz="1600" b="1" dirty="0">
                <a:solidFill>
                  <a:srgbClr val="0070C0"/>
                </a:solidFill>
                <a:latin typeface="Times New Roman"/>
                <a:ea typeface="Times New Roman"/>
                <a:cs typeface="Times New Roman"/>
                <a:sym typeface="Times New Roman"/>
              </a:rPr>
              <a:t>adeshiya</a:t>
            </a:r>
            <a:r>
              <a:rPr lang="de-DE" sz="1600" b="1" i="0" u="none" strike="noStrike" cap="none" dirty="0">
                <a:solidFill>
                  <a:srgbClr val="0070C0"/>
                </a:solidFill>
                <a:latin typeface="Times New Roman"/>
                <a:ea typeface="Times New Roman"/>
                <a:cs typeface="Times New Roman"/>
                <a:sym typeface="Times New Roman"/>
              </a:rPr>
              <a:t>, </a:t>
            </a:r>
            <a:endParaRPr sz="1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70C0"/>
              </a:buClr>
              <a:buSzPts val="2000"/>
              <a:buFont typeface="Questrial"/>
              <a:buNone/>
            </a:pPr>
            <a:r>
              <a:rPr lang="de-DE" sz="1600" b="1" i="0" u="none" strike="noStrike" cap="none" dirty="0">
                <a:solidFill>
                  <a:srgbClr val="0070C0"/>
                </a:solidFill>
                <a:latin typeface="Times New Roman"/>
                <a:ea typeface="Times New Roman"/>
                <a:cs typeface="Times New Roman"/>
                <a:sym typeface="Times New Roman"/>
              </a:rPr>
              <a:t>Nickson </a:t>
            </a:r>
            <a:r>
              <a:rPr lang="de-DE" sz="1600" b="1" dirty="0">
                <a:solidFill>
                  <a:srgbClr val="0070C0"/>
                </a:solidFill>
                <a:latin typeface="Times New Roman"/>
                <a:ea typeface="Times New Roman"/>
                <a:cs typeface="Times New Roman"/>
                <a:sym typeface="Times New Roman"/>
              </a:rPr>
              <a:t>K Johnson</a:t>
            </a:r>
            <a:endParaRPr sz="16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400"/>
              <a:buFont typeface="Questrial"/>
              <a:buNone/>
            </a:pPr>
            <a:r>
              <a:rPr lang="de-DE" sz="1400" b="0" i="1" u="none" strike="noStrike" cap="none" dirty="0">
                <a:solidFill>
                  <a:schemeClr val="dk1"/>
                </a:solidFill>
                <a:latin typeface="Times New Roman"/>
                <a:ea typeface="Times New Roman"/>
                <a:cs typeface="Times New Roman"/>
                <a:sym typeface="Times New Roman"/>
              </a:rPr>
              <a:t>05/07/2024, HTW Saar, Germany./ Neural  and Cognitive Systems</a:t>
            </a:r>
            <a:endParaRPr sz="1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170" name="Google Shape;170;p2"/>
          <p:cNvPicPr preferRelativeResize="0"/>
          <p:nvPr/>
        </p:nvPicPr>
        <p:blipFill rotWithShape="1">
          <a:blip r:embed="rId4">
            <a:alphaModFix/>
          </a:blip>
          <a:srcRect/>
          <a:stretch/>
        </p:blipFill>
        <p:spPr>
          <a:xfrm>
            <a:off x="-2283" y="28576"/>
            <a:ext cx="2236107" cy="6858000"/>
          </a:xfrm>
          <a:prstGeom prst="rect">
            <a:avLst/>
          </a:prstGeom>
          <a:noFill/>
          <a:ln>
            <a:noFill/>
          </a:ln>
        </p:spPr>
      </p:pic>
      <p:pic>
        <p:nvPicPr>
          <p:cNvPr id="171" name="Google Shape;171;p2"/>
          <p:cNvPicPr preferRelativeResize="0"/>
          <p:nvPr/>
        </p:nvPicPr>
        <p:blipFill rotWithShape="1">
          <a:blip r:embed="rId5">
            <a:alphaModFix/>
          </a:blip>
          <a:srcRect/>
          <a:stretch/>
        </p:blipFill>
        <p:spPr>
          <a:xfrm>
            <a:off x="-2284" y="2024844"/>
            <a:ext cx="2236106" cy="745370"/>
          </a:xfrm>
          <a:prstGeom prst="rect">
            <a:avLst/>
          </a:prstGeom>
          <a:noFill/>
          <a:ln>
            <a:noFill/>
          </a:ln>
        </p:spPr>
      </p:pic>
      <p:sp>
        <p:nvSpPr>
          <p:cNvPr id="172" name="Google Shape;172;p2"/>
          <p:cNvSpPr txBox="1"/>
          <p:nvPr/>
        </p:nvSpPr>
        <p:spPr>
          <a:xfrm>
            <a:off x="81698" y="6561348"/>
            <a:ext cx="194421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173" name="Google Shape;173;p2"/>
          <p:cNvSpPr txBox="1"/>
          <p:nvPr/>
        </p:nvSpPr>
        <p:spPr>
          <a:xfrm>
            <a:off x="139316" y="2230154"/>
            <a:ext cx="1890300" cy="2893800"/>
          </a:xfrm>
          <a:prstGeom prst="rect">
            <a:avLst/>
          </a:prstGeom>
          <a:noFill/>
          <a:ln>
            <a:noFill/>
          </a:ln>
        </p:spPr>
        <p:txBody>
          <a:bodyPr spcFirstLastPara="1" wrap="square" lIns="91425" tIns="45700" rIns="91425" bIns="45700" anchor="t" anchorCtr="0">
            <a:spAutoFit/>
          </a:bodyPr>
          <a:lstStyle/>
          <a:p>
            <a:pPr marL="252000" marR="0" lvl="0" indent="-252000" algn="l" rtl="0">
              <a:lnSpc>
                <a:spcPct val="100000"/>
              </a:lnSpc>
              <a:spcBef>
                <a:spcPts val="0"/>
              </a:spcBef>
              <a:spcAft>
                <a:spcPts val="0"/>
              </a:spcAft>
              <a:buClr>
                <a:schemeClr val="lt1"/>
              </a:buClr>
              <a:buSzPts val="1400"/>
              <a:buFont typeface="Noto Sans Symbols"/>
              <a:buChar char="▪"/>
            </a:pPr>
            <a:r>
              <a:rPr lang="de-DE" sz="1400" b="0" i="0" u="none" strike="noStrike" cap="none">
                <a:solidFill>
                  <a:schemeClr val="lt1"/>
                </a:solidFill>
                <a:latin typeface="Times New Roman"/>
                <a:ea typeface="Times New Roman"/>
                <a:cs typeface="Times New Roman"/>
                <a:sym typeface="Times New Roman"/>
              </a:rPr>
              <a:t>Introduction</a:t>
            </a:r>
            <a:endParaRPr sz="1400" b="0" i="0" u="none" strike="noStrike" cap="none">
              <a:solidFill>
                <a:schemeClr val="lt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Methods</a:t>
            </a:r>
            <a:endParaRPr sz="1400" b="0" i="0" u="none" strike="noStrike" cap="none">
              <a:solidFill>
                <a:schemeClr val="dk1"/>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Model</a:t>
            </a:r>
            <a:endParaRPr sz="1400" b="0" i="0" u="none" strike="noStrike" cap="none">
              <a:solidFill>
                <a:schemeClr val="dk1"/>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Results</a:t>
            </a:r>
            <a:endParaRPr sz="1400" b="0" i="0" u="none" strike="noStrike" cap="none">
              <a:solidFill>
                <a:schemeClr val="dk1"/>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1999" marR="0" lvl="0" indent="-251999" algn="l" rtl="0">
              <a:lnSpc>
                <a:spcPct val="100000"/>
              </a:lnSpc>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r>
              <a:rPr lang="de-DE" sz="1400" b="0" i="0" u="none" strike="noStrike" cap="none">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a:p>
            <a:pPr marL="251999" marR="0" lvl="0" indent="-251999"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Future Work </a:t>
            </a:r>
            <a:endParaRPr sz="1400" b="0" i="0" u="none" strike="noStrike" cap="none">
              <a:solidFill>
                <a:srgbClr val="000000"/>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References</a:t>
            </a:r>
            <a:endParaRPr sz="1400" b="0" i="0" u="none" strike="noStrike" cap="none">
              <a:solidFill>
                <a:srgbClr val="000000"/>
              </a:solidFill>
              <a:latin typeface="Times New Roman"/>
              <a:ea typeface="Times New Roman"/>
              <a:cs typeface="Times New Roman"/>
              <a:sym typeface="Times New Roman"/>
            </a:endParaRPr>
          </a:p>
        </p:txBody>
      </p:sp>
      <p:sp>
        <p:nvSpPr>
          <p:cNvPr id="174" name="Google Shape;174;p2"/>
          <p:cNvSpPr txBox="1"/>
          <p:nvPr/>
        </p:nvSpPr>
        <p:spPr>
          <a:xfrm>
            <a:off x="2375756" y="6561346"/>
            <a:ext cx="6588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2"/>
          <p:cNvSpPr txBox="1"/>
          <p:nvPr/>
        </p:nvSpPr>
        <p:spPr>
          <a:xfrm>
            <a:off x="2375756" y="62430"/>
            <a:ext cx="6588600" cy="46162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i="0" u="none" strike="noStrike" cap="none">
                <a:solidFill>
                  <a:schemeClr val="accent1"/>
                </a:solidFill>
                <a:latin typeface="Times New Roman"/>
                <a:ea typeface="Times New Roman"/>
                <a:cs typeface="Times New Roman"/>
                <a:sym typeface="Times New Roman"/>
              </a:rPr>
              <a:t>Pneumonia Classification With Deep Learning</a:t>
            </a:r>
            <a:endParaRPr sz="1800" b="1" i="0" u="none" strike="noStrike" cap="none">
              <a:solidFill>
                <a:schemeClr val="accent1"/>
              </a:solidFill>
              <a:latin typeface="Calibri"/>
              <a:ea typeface="Calibri"/>
              <a:cs typeface="Calibri"/>
              <a:sym typeface="Calibri"/>
            </a:endParaRPr>
          </a:p>
        </p:txBody>
      </p:sp>
      <p:sp>
        <p:nvSpPr>
          <p:cNvPr id="176" name="Google Shape;176;p2"/>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pic>
        <p:nvPicPr>
          <p:cNvPr id="177" name="Google Shape;177;p2"/>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178" name="Google Shape;178;p2"/>
          <p:cNvSpPr txBox="1"/>
          <p:nvPr/>
        </p:nvSpPr>
        <p:spPr>
          <a:xfrm>
            <a:off x="2428799" y="1141401"/>
            <a:ext cx="6715200" cy="5439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de-DE" sz="1800" b="1" i="0" u="none" strike="noStrike" cap="none">
                <a:solidFill>
                  <a:srgbClr val="000000"/>
                </a:solidFill>
                <a:latin typeface="Times New Roman"/>
                <a:ea typeface="Times New Roman"/>
                <a:cs typeface="Times New Roman"/>
                <a:sym typeface="Times New Roman"/>
              </a:rPr>
              <a:t>PROBLEM:</a:t>
            </a:r>
            <a:endParaRPr b="1"/>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de-DE" sz="1800" b="0" i="0" u="none" strike="noStrike" cap="none">
                <a:solidFill>
                  <a:srgbClr val="000000"/>
                </a:solidFill>
                <a:latin typeface="Times New Roman"/>
                <a:ea typeface="Times New Roman"/>
                <a:cs typeface="Times New Roman"/>
                <a:sym typeface="Times New Roman"/>
              </a:rPr>
              <a:t>Implement a deep-learning pipeline for the classification of pneumonia in X-ray images.</a:t>
            </a:r>
            <a:endParaRPr/>
          </a:p>
          <a:p>
            <a:pPr marL="0" marR="0" lvl="0" indent="0" algn="l" rtl="0">
              <a:lnSpc>
                <a:spcPct val="100000"/>
              </a:lnSpc>
              <a:spcBef>
                <a:spcPts val="0"/>
              </a:spcBef>
              <a:spcAft>
                <a:spcPts val="0"/>
              </a:spcAft>
              <a:buNone/>
            </a:pPr>
            <a:endParaRPr sz="4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D0D0D"/>
              </a:solidFill>
              <a:highlight>
                <a:srgbClr val="FFFFFF"/>
              </a:highlight>
              <a:latin typeface="Times New Roman"/>
              <a:ea typeface="Times New Roman"/>
              <a:cs typeface="Times New Roman"/>
              <a:sym typeface="Times New Roman"/>
            </a:endParaRPr>
          </a:p>
        </p:txBody>
      </p:sp>
      <p:pic>
        <p:nvPicPr>
          <p:cNvPr id="179" name="Google Shape;179;p2"/>
          <p:cNvPicPr preferRelativeResize="0"/>
          <p:nvPr/>
        </p:nvPicPr>
        <p:blipFill rotWithShape="1">
          <a:blip r:embed="rId7">
            <a:alphaModFix/>
          </a:blip>
          <a:srcRect l="592" t="20859" r="48540" b="7518"/>
          <a:stretch/>
        </p:blipFill>
        <p:spPr>
          <a:xfrm>
            <a:off x="3856419" y="2523956"/>
            <a:ext cx="3368154" cy="3553111"/>
          </a:xfrm>
          <a:prstGeom prst="rect">
            <a:avLst/>
          </a:prstGeom>
          <a:noFill/>
          <a:ln>
            <a:noFill/>
          </a:ln>
        </p:spPr>
      </p:pic>
      <p:sp>
        <p:nvSpPr>
          <p:cNvPr id="180" name="Google Shape;180;p2"/>
          <p:cNvSpPr txBox="1"/>
          <p:nvPr/>
        </p:nvSpPr>
        <p:spPr>
          <a:xfrm>
            <a:off x="4044950" y="6086650"/>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fig.1 Xray image merged with CNN </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3"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186" name="Google Shape;186;p3"/>
          <p:cNvPicPr preferRelativeResize="0"/>
          <p:nvPr/>
        </p:nvPicPr>
        <p:blipFill rotWithShape="1">
          <a:blip r:embed="rId4">
            <a:alphaModFix/>
          </a:blip>
          <a:srcRect/>
          <a:stretch/>
        </p:blipFill>
        <p:spPr>
          <a:xfrm>
            <a:off x="-2283" y="28576"/>
            <a:ext cx="2236107" cy="6858000"/>
          </a:xfrm>
          <a:prstGeom prst="rect">
            <a:avLst/>
          </a:prstGeom>
          <a:noFill/>
          <a:ln>
            <a:noFill/>
          </a:ln>
        </p:spPr>
      </p:pic>
      <p:pic>
        <p:nvPicPr>
          <p:cNvPr id="187" name="Google Shape;187;p3"/>
          <p:cNvPicPr preferRelativeResize="0"/>
          <p:nvPr/>
        </p:nvPicPr>
        <p:blipFill rotWithShape="1">
          <a:blip r:embed="rId5">
            <a:alphaModFix/>
          </a:blip>
          <a:srcRect/>
          <a:stretch/>
        </p:blipFill>
        <p:spPr>
          <a:xfrm>
            <a:off x="-2284" y="2024844"/>
            <a:ext cx="2236106" cy="745370"/>
          </a:xfrm>
          <a:prstGeom prst="rect">
            <a:avLst/>
          </a:prstGeom>
          <a:noFill/>
          <a:ln>
            <a:noFill/>
          </a:ln>
        </p:spPr>
      </p:pic>
      <p:sp>
        <p:nvSpPr>
          <p:cNvPr id="188" name="Google Shape;188;p3"/>
          <p:cNvSpPr txBox="1"/>
          <p:nvPr/>
        </p:nvSpPr>
        <p:spPr>
          <a:xfrm>
            <a:off x="81698" y="6561348"/>
            <a:ext cx="194421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Times New Roman"/>
                <a:ea typeface="Times New Roman"/>
                <a:cs typeface="Times New Roman"/>
                <a:sym typeface="Times New Roman"/>
              </a:rPr>
              <a:t>05.07.2024</a:t>
            </a:r>
            <a:endParaRPr sz="1200" b="0" i="0" u="none" strike="noStrike" cap="none">
              <a:solidFill>
                <a:schemeClr val="dk1"/>
              </a:solidFill>
              <a:latin typeface="Times New Roman"/>
              <a:ea typeface="Times New Roman"/>
              <a:cs typeface="Times New Roman"/>
              <a:sym typeface="Times New Roman"/>
            </a:endParaRPr>
          </a:p>
        </p:txBody>
      </p:sp>
      <p:sp>
        <p:nvSpPr>
          <p:cNvPr id="189" name="Google Shape;189;p3"/>
          <p:cNvSpPr txBox="1"/>
          <p:nvPr/>
        </p:nvSpPr>
        <p:spPr>
          <a:xfrm>
            <a:off x="139316" y="2230154"/>
            <a:ext cx="1890300" cy="2893800"/>
          </a:xfrm>
          <a:prstGeom prst="rect">
            <a:avLst/>
          </a:prstGeom>
          <a:noFill/>
          <a:ln>
            <a:noFill/>
          </a:ln>
        </p:spPr>
        <p:txBody>
          <a:bodyPr spcFirstLastPara="1" wrap="square" lIns="91425" tIns="45700" rIns="91425" bIns="45700" anchor="t" anchorCtr="0">
            <a:spAutoFit/>
          </a:bodyPr>
          <a:lstStyle/>
          <a:p>
            <a:pPr marL="252000" marR="0" lvl="0" indent="-252000" algn="l" rtl="0">
              <a:lnSpc>
                <a:spcPct val="100000"/>
              </a:lnSpc>
              <a:spcBef>
                <a:spcPts val="0"/>
              </a:spcBef>
              <a:spcAft>
                <a:spcPts val="0"/>
              </a:spcAft>
              <a:buClr>
                <a:schemeClr val="lt1"/>
              </a:buClr>
              <a:buSzPts val="1400"/>
              <a:buFont typeface="Noto Sans Symbols"/>
              <a:buChar char="▪"/>
            </a:pPr>
            <a:r>
              <a:rPr lang="de-DE" sz="1400" b="0" i="0" u="none" strike="noStrike" cap="none">
                <a:solidFill>
                  <a:schemeClr val="lt1"/>
                </a:solidFill>
                <a:latin typeface="Times New Roman"/>
                <a:ea typeface="Times New Roman"/>
                <a:cs typeface="Times New Roman"/>
                <a:sym typeface="Times New Roman"/>
              </a:rPr>
              <a:t>Introduction</a:t>
            </a:r>
            <a:endParaRPr sz="1400" b="0" i="0" u="none" strike="noStrike" cap="none">
              <a:solidFill>
                <a:schemeClr val="dk1"/>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1999" marR="0" lvl="0" indent="-251999"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Methods</a:t>
            </a:r>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Model</a:t>
            </a:r>
            <a:endParaRPr sz="1400" b="0" i="0" u="none" strike="noStrike" cap="none">
              <a:solidFill>
                <a:schemeClr val="dk1"/>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Results</a:t>
            </a:r>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a:t>
            </a:r>
            <a:r>
              <a:rPr lang="de-DE" sz="1400" b="0" i="0" u="none" strike="noStrike" cap="none">
                <a:solidFill>
                  <a:schemeClr val="dk1"/>
                </a:solidFill>
                <a:latin typeface="Times New Roman"/>
                <a:ea typeface="Times New Roman"/>
                <a:cs typeface="Times New Roman"/>
                <a:sym typeface="Times New Roman"/>
              </a:rPr>
              <a:t>iscussion</a:t>
            </a:r>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Future Work </a:t>
            </a:r>
            <a:endParaRPr sz="1400" b="0" i="0" u="none" strike="noStrike" cap="none">
              <a:solidFill>
                <a:srgbClr val="000000"/>
              </a:solidFill>
              <a:latin typeface="Times New Roman"/>
              <a:ea typeface="Times New Roman"/>
              <a:cs typeface="Times New Roman"/>
              <a:sym typeface="Times New Roman"/>
            </a:endParaRPr>
          </a:p>
          <a:p>
            <a:pPr marL="252000" marR="0" lvl="0" indent="-163100" algn="l"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References</a:t>
            </a:r>
            <a:endParaRPr sz="1400" b="0" i="0" u="none" strike="noStrike" cap="none">
              <a:solidFill>
                <a:srgbClr val="000000"/>
              </a:solidFill>
              <a:latin typeface="Times New Roman"/>
              <a:ea typeface="Times New Roman"/>
              <a:cs typeface="Times New Roman"/>
              <a:sym typeface="Times New Roman"/>
            </a:endParaRPr>
          </a:p>
        </p:txBody>
      </p:sp>
      <p:sp>
        <p:nvSpPr>
          <p:cNvPr id="190" name="Google Shape;190;p3"/>
          <p:cNvSpPr txBox="1"/>
          <p:nvPr/>
        </p:nvSpPr>
        <p:spPr>
          <a:xfrm>
            <a:off x="2375756" y="6561346"/>
            <a:ext cx="6588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1" name="Google Shape;191;p3"/>
          <p:cNvSpPr txBox="1"/>
          <p:nvPr/>
        </p:nvSpPr>
        <p:spPr>
          <a:xfrm>
            <a:off x="2375756" y="62430"/>
            <a:ext cx="65886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de-DE" sz="2400" b="1" i="0" u="none" strike="noStrike" cap="none">
                <a:solidFill>
                  <a:schemeClr val="accent1"/>
                </a:solidFill>
                <a:latin typeface="Times New Roman"/>
                <a:ea typeface="Times New Roman"/>
                <a:cs typeface="Times New Roman"/>
                <a:sym typeface="Times New Roman"/>
              </a:rPr>
              <a:t>Pneumonia Classification With Deep Learning</a:t>
            </a:r>
            <a:endParaRPr sz="2400" b="1" i="0" u="none" strike="noStrike" cap="none">
              <a:solidFill>
                <a:schemeClr val="accent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192" name="Google Shape;192;p3"/>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Times New Roman"/>
                <a:ea typeface="Times New Roman"/>
                <a:cs typeface="Times New Roman"/>
                <a:sym typeface="Times New Roman"/>
              </a:rPr>
              <a:t>3</a:t>
            </a:fld>
            <a:endParaRPr sz="1200" b="0" i="0" u="none" strike="noStrike" cap="none">
              <a:solidFill>
                <a:schemeClr val="dk1"/>
              </a:solidFill>
              <a:latin typeface="Times New Roman"/>
              <a:ea typeface="Times New Roman"/>
              <a:cs typeface="Times New Roman"/>
              <a:sym typeface="Times New Roman"/>
            </a:endParaRPr>
          </a:p>
        </p:txBody>
      </p:sp>
      <p:pic>
        <p:nvPicPr>
          <p:cNvPr id="193" name="Google Shape;193;p3"/>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194" name="Google Shape;194;p3"/>
          <p:cNvSpPr txBox="1"/>
          <p:nvPr/>
        </p:nvSpPr>
        <p:spPr>
          <a:xfrm>
            <a:off x="2428799" y="1141401"/>
            <a:ext cx="6715200" cy="54396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de-DE" sz="1800" b="1" i="0" u="none" strike="noStrike" cap="none">
                <a:solidFill>
                  <a:srgbClr val="000000"/>
                </a:solidFill>
                <a:latin typeface="Times New Roman"/>
                <a:ea typeface="Times New Roman"/>
                <a:cs typeface="Times New Roman"/>
                <a:sym typeface="Times New Roman"/>
              </a:rPr>
              <a:t>CHALLENGES</a:t>
            </a:r>
            <a:r>
              <a:rPr lang="de-DE" sz="1800" b="1">
                <a:latin typeface="Times New Roman"/>
                <a:ea typeface="Times New Roman"/>
                <a:cs typeface="Times New Roman"/>
                <a:sym typeface="Times New Roman"/>
              </a:rPr>
              <a:t>:</a:t>
            </a:r>
            <a:endParaRPr b="1"/>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de-DE" sz="1800" b="0" i="0" u="none" strike="noStrike" cap="none">
                <a:solidFill>
                  <a:srgbClr val="000000"/>
                </a:solidFill>
                <a:latin typeface="Times New Roman"/>
                <a:ea typeface="Times New Roman"/>
                <a:cs typeface="Times New Roman"/>
                <a:sym typeface="Times New Roman"/>
              </a:rPr>
              <a:t>Challenges faced by conventional techniques are:</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Interpretation of X-ray images can vary between radiologists due to differences in experience(subjectivity &amp;Misleading)</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Limited skilled radiologists especially in under-resourced area</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Require significant time for image interpretation can delay treatment.</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Medical images frequently experience issues like noise ,low resolution and inconsistent quality.</a:t>
            </a:r>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4"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200" name="Google Shape;200;p4"/>
          <p:cNvPicPr preferRelativeResize="0"/>
          <p:nvPr/>
        </p:nvPicPr>
        <p:blipFill rotWithShape="1">
          <a:blip r:embed="rId4">
            <a:alphaModFix/>
          </a:blip>
          <a:srcRect/>
          <a:stretch/>
        </p:blipFill>
        <p:spPr>
          <a:xfrm>
            <a:off x="-2283" y="28576"/>
            <a:ext cx="2236107" cy="6858000"/>
          </a:xfrm>
          <a:prstGeom prst="rect">
            <a:avLst/>
          </a:prstGeom>
          <a:noFill/>
          <a:ln>
            <a:noFill/>
          </a:ln>
        </p:spPr>
      </p:pic>
      <p:pic>
        <p:nvPicPr>
          <p:cNvPr id="201" name="Google Shape;201;p4"/>
          <p:cNvPicPr preferRelativeResize="0"/>
          <p:nvPr/>
        </p:nvPicPr>
        <p:blipFill rotWithShape="1">
          <a:blip r:embed="rId5">
            <a:alphaModFix/>
          </a:blip>
          <a:srcRect/>
          <a:stretch/>
        </p:blipFill>
        <p:spPr>
          <a:xfrm>
            <a:off x="-2284" y="2024844"/>
            <a:ext cx="2236106" cy="745370"/>
          </a:xfrm>
          <a:prstGeom prst="rect">
            <a:avLst/>
          </a:prstGeom>
          <a:noFill/>
          <a:ln>
            <a:noFill/>
          </a:ln>
        </p:spPr>
      </p:pic>
      <p:sp>
        <p:nvSpPr>
          <p:cNvPr id="202" name="Google Shape;202;p4"/>
          <p:cNvSpPr txBox="1"/>
          <p:nvPr/>
        </p:nvSpPr>
        <p:spPr>
          <a:xfrm>
            <a:off x="81698" y="6561348"/>
            <a:ext cx="194421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203" name="Google Shape;203;p4"/>
          <p:cNvSpPr txBox="1"/>
          <p:nvPr/>
        </p:nvSpPr>
        <p:spPr>
          <a:xfrm>
            <a:off x="1393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252000" marR="0" lvl="0" indent="-252000" algn="l" rtl="0">
              <a:lnSpc>
                <a:spcPct val="100000"/>
              </a:lnSpc>
              <a:spcBef>
                <a:spcPts val="0"/>
              </a:spcBef>
              <a:spcAft>
                <a:spcPts val="0"/>
              </a:spcAft>
              <a:buClr>
                <a:schemeClr val="lt1"/>
              </a:buClr>
              <a:buSzPts val="1400"/>
              <a:buFont typeface="Times New Roman"/>
              <a:buChar char="▪"/>
            </a:pPr>
            <a:endParaRPr>
              <a:solidFill>
                <a:schemeClr val="lt1"/>
              </a:solidFill>
              <a:latin typeface="Times New Roman"/>
              <a:ea typeface="Times New Roman"/>
              <a:cs typeface="Times New Roman"/>
              <a:sym typeface="Times New Roman"/>
            </a:endParaRPr>
          </a:p>
        </p:txBody>
      </p:sp>
      <p:sp>
        <p:nvSpPr>
          <p:cNvPr id="204" name="Google Shape;204;p4"/>
          <p:cNvSpPr txBox="1"/>
          <p:nvPr/>
        </p:nvSpPr>
        <p:spPr>
          <a:xfrm>
            <a:off x="2375756" y="6561346"/>
            <a:ext cx="6588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4"/>
          <p:cNvSpPr txBox="1"/>
          <p:nvPr/>
        </p:nvSpPr>
        <p:spPr>
          <a:xfrm>
            <a:off x="2375756" y="62430"/>
            <a:ext cx="6588600" cy="1200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de-DE" sz="2400" b="1">
                <a:solidFill>
                  <a:schemeClr val="accent1"/>
                </a:solidFill>
                <a:latin typeface="Times New Roman"/>
                <a:ea typeface="Times New Roman"/>
                <a:cs typeface="Times New Roman"/>
                <a:sym typeface="Times New Roman"/>
              </a:rPr>
              <a:t>Solution</a:t>
            </a:r>
            <a:endParaRPr sz="2400" b="1" i="0" u="none" strike="noStrike" cap="none">
              <a:solidFill>
                <a:schemeClr val="accent1"/>
              </a:solidFill>
              <a:latin typeface="Calibri"/>
              <a:ea typeface="Calibri"/>
              <a:cs typeface="Calibri"/>
              <a:sym typeface="Calibri"/>
            </a:endParaRPr>
          </a:p>
          <a:p>
            <a:pPr marL="0" marR="0" lvl="0" indent="0" algn="r" rtl="0">
              <a:lnSpc>
                <a:spcPct val="100000"/>
              </a:lnSpc>
              <a:spcBef>
                <a:spcPts val="0"/>
              </a:spcBef>
              <a:spcAft>
                <a:spcPts val="0"/>
              </a:spcAft>
              <a:buClr>
                <a:schemeClr val="dk1"/>
              </a:buClr>
              <a:buSzPts val="2000"/>
              <a:buFont typeface="Arial"/>
              <a:buNone/>
            </a:pPr>
            <a:endParaRPr sz="2400" b="0" i="0"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06" name="Google Shape;206;p4"/>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4</a:t>
            </a:r>
            <a:endParaRPr sz="1200" b="0" i="0" u="none" strike="noStrike" cap="none">
              <a:solidFill>
                <a:schemeClr val="dk1"/>
              </a:solidFill>
              <a:latin typeface="Calibri"/>
              <a:ea typeface="Calibri"/>
              <a:cs typeface="Calibri"/>
              <a:sym typeface="Calibri"/>
            </a:endParaRPr>
          </a:p>
        </p:txBody>
      </p:sp>
      <p:pic>
        <p:nvPicPr>
          <p:cNvPr id="207" name="Google Shape;207;p4"/>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208" name="Google Shape;208;p4"/>
          <p:cNvSpPr txBox="1"/>
          <p:nvPr/>
        </p:nvSpPr>
        <p:spPr>
          <a:xfrm>
            <a:off x="2633729" y="574190"/>
            <a:ext cx="6186900" cy="36468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None/>
            </a:pPr>
            <a:endParaRPr b="1"/>
          </a:p>
          <a:p>
            <a:pPr marL="0" marR="0" lvl="0" indent="0" algn="just"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Reduce subjectivity and improve consistency</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Once trained deep learning models can analyze X-rays quickly and accurately.</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It analyses X-rays quickly, so patients get diagnosed faster.</a:t>
            </a:r>
            <a:endParaRPr/>
          </a:p>
          <a:p>
            <a:pPr marL="285750" marR="0" lvl="0" indent="-285750" algn="just"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By these key challenges deep learning provides a robust solution that enhances the accuracy, scalability, and efficiency of pneumonia diagnosis from chest X-ray</a:t>
            </a:r>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pic>
        <p:nvPicPr>
          <p:cNvPr id="209" name="Google Shape;209;p4" descr="Applied Sciences | Free Full-Text | Transfer Learning with Deep  Convolutional Neural Network (CNN) for Pneumonia Detection Using Chest X-ray"/>
          <p:cNvPicPr preferRelativeResize="0"/>
          <p:nvPr/>
        </p:nvPicPr>
        <p:blipFill rotWithShape="1">
          <a:blip r:embed="rId7">
            <a:alphaModFix/>
          </a:blip>
          <a:srcRect/>
          <a:stretch/>
        </p:blipFill>
        <p:spPr>
          <a:xfrm>
            <a:off x="3120408" y="3181352"/>
            <a:ext cx="5099270" cy="3051596"/>
          </a:xfrm>
          <a:prstGeom prst="rect">
            <a:avLst/>
          </a:prstGeom>
          <a:noFill/>
          <a:ln>
            <a:noFill/>
          </a:ln>
        </p:spPr>
      </p:pic>
      <p:sp>
        <p:nvSpPr>
          <p:cNvPr id="210" name="Google Shape;210;p4"/>
          <p:cNvSpPr txBox="1"/>
          <p:nvPr/>
        </p:nvSpPr>
        <p:spPr>
          <a:xfrm>
            <a:off x="3949700" y="6232950"/>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fig.2.  Block diagram of the system</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5"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216" name="Google Shape;216;p5"/>
          <p:cNvPicPr preferRelativeResize="0"/>
          <p:nvPr/>
        </p:nvPicPr>
        <p:blipFill rotWithShape="1">
          <a:blip r:embed="rId4">
            <a:alphaModFix/>
          </a:blip>
          <a:srcRect/>
          <a:stretch/>
        </p:blipFill>
        <p:spPr>
          <a:xfrm>
            <a:off x="-2283" y="0"/>
            <a:ext cx="2236107" cy="6858000"/>
          </a:xfrm>
          <a:prstGeom prst="rect">
            <a:avLst/>
          </a:prstGeom>
          <a:noFill/>
          <a:ln>
            <a:noFill/>
          </a:ln>
        </p:spPr>
      </p:pic>
      <p:pic>
        <p:nvPicPr>
          <p:cNvPr id="217" name="Google Shape;217;p5"/>
          <p:cNvPicPr preferRelativeResize="0"/>
          <p:nvPr/>
        </p:nvPicPr>
        <p:blipFill rotWithShape="1">
          <a:blip r:embed="rId5">
            <a:alphaModFix/>
          </a:blip>
          <a:srcRect/>
          <a:stretch/>
        </p:blipFill>
        <p:spPr>
          <a:xfrm>
            <a:off x="-2284" y="2463414"/>
            <a:ext cx="2236106" cy="745370"/>
          </a:xfrm>
          <a:prstGeom prst="rect">
            <a:avLst/>
          </a:prstGeom>
          <a:noFill/>
          <a:ln>
            <a:noFill/>
          </a:ln>
        </p:spPr>
      </p:pic>
      <p:sp>
        <p:nvSpPr>
          <p:cNvPr id="218" name="Google Shape;218;p5"/>
          <p:cNvSpPr txBox="1"/>
          <p:nvPr/>
        </p:nvSpPr>
        <p:spPr>
          <a:xfrm>
            <a:off x="81698" y="6561348"/>
            <a:ext cx="194421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219" name="Google Shape;219;p5"/>
          <p:cNvSpPr txBox="1"/>
          <p:nvPr/>
        </p:nvSpPr>
        <p:spPr>
          <a:xfrm>
            <a:off x="2155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Methods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220" name="Google Shape;220;p5"/>
          <p:cNvSpPr txBox="1"/>
          <p:nvPr/>
        </p:nvSpPr>
        <p:spPr>
          <a:xfrm>
            <a:off x="2375756" y="6561346"/>
            <a:ext cx="6588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5"/>
          <p:cNvSpPr txBox="1"/>
          <p:nvPr/>
        </p:nvSpPr>
        <p:spPr>
          <a:xfrm>
            <a:off x="2375756" y="62430"/>
            <a:ext cx="6588600" cy="83095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Dataset collection</a:t>
            </a:r>
            <a:endParaRPr sz="2400" b="1" i="0" u="none" strike="noStrike" cap="none">
              <a:solidFill>
                <a:schemeClr val="accent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22" name="Google Shape;222;p5"/>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
        <p:nvSpPr>
          <p:cNvPr id="223" name="Google Shape;223;p5"/>
          <p:cNvSpPr txBox="1"/>
          <p:nvPr/>
        </p:nvSpPr>
        <p:spPr>
          <a:xfrm>
            <a:off x="2483743" y="1405934"/>
            <a:ext cx="6372600" cy="3417000"/>
          </a:xfrm>
          <a:prstGeom prst="rect">
            <a:avLst/>
          </a:prstGeom>
          <a:noFill/>
          <a:ln>
            <a:noFill/>
          </a:ln>
        </p:spPr>
        <p:txBody>
          <a:bodyPr spcFirstLastPara="1" wrap="square" lIns="91425" tIns="45700" rIns="91425" bIns="45700" anchor="t" anchorCtr="0">
            <a:spAutoFit/>
          </a:bodyPr>
          <a:lstStyle/>
          <a:p>
            <a:pPr marL="457200" marR="0" lvl="0" indent="-342900" algn="l" rtl="0">
              <a:lnSpc>
                <a:spcPct val="100000"/>
              </a:lnSpc>
              <a:spcBef>
                <a:spcPts val="0"/>
              </a:spcBef>
              <a:spcAft>
                <a:spcPts val="0"/>
              </a:spcAft>
              <a:buClr>
                <a:srgbClr val="000000"/>
              </a:buClr>
              <a:buSzPts val="1800"/>
              <a:buFont typeface="Times New Roman"/>
              <a:buChar char="➢"/>
            </a:pPr>
            <a:r>
              <a:rPr lang="de-DE" sz="1800" i="0" u="none" strike="noStrike" cap="none">
                <a:solidFill>
                  <a:srgbClr val="000000"/>
                </a:solidFill>
                <a:latin typeface="Times New Roman"/>
                <a:ea typeface="Times New Roman"/>
                <a:cs typeface="Times New Roman"/>
                <a:sym typeface="Times New Roman"/>
              </a:rPr>
              <a:t>Dataset</a:t>
            </a:r>
            <a:endParaRPr sz="1800">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 chest X-ray images for pneumonia classification</a:t>
            </a:r>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The data set is not balanced between Normal and Pneumonia classes</a:t>
            </a:r>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Image resolution: varied resolutions</a:t>
            </a:r>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Image extension: JPEG Format</a:t>
            </a:r>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Source: </a:t>
            </a:r>
            <a:r>
              <a:rPr lang="de-DE" sz="1800" b="0" i="0" u="sng" strike="noStrike" cap="none">
                <a:solidFill>
                  <a:srgbClr val="00206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https://drive.google.com/drive/folders/1N9D68Uj6Y3R8_iYAE_dnP9J5BXUiDXRy?usp=sharing</a:t>
            </a:r>
            <a:endParaRPr sz="1800" b="0" i="0" u="sng" strike="noStrike" cap="none">
              <a:solidFill>
                <a:srgbClr val="00206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800" b="0" i="0" u="sng" strike="noStrike" cap="none">
              <a:solidFill>
                <a:srgbClr val="00206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de-DE" sz="1800" b="0" i="0" u="none" strike="noStrike" cap="none">
                <a:solidFill>
                  <a:srgbClr val="000000"/>
                </a:solidFill>
                <a:latin typeface="Times New Roman"/>
                <a:ea typeface="Times New Roman"/>
                <a:cs typeface="Times New Roman"/>
                <a:sym typeface="Times New Roman"/>
              </a:rPr>
              <a:t>Classes: Normal	    - Healthy lungs</a:t>
            </a:r>
            <a:endParaRPr/>
          </a:p>
          <a:p>
            <a:pPr marL="914400" marR="0" lvl="2" indent="0" algn="l" rtl="0">
              <a:lnSpc>
                <a:spcPct val="100000"/>
              </a:lnSpc>
              <a:spcBef>
                <a:spcPts val="0"/>
              </a:spcBef>
              <a:spcAft>
                <a:spcPts val="0"/>
              </a:spcAft>
              <a:buClr>
                <a:srgbClr val="000000"/>
              </a:buClr>
              <a:buSzPts val="1800"/>
              <a:buFont typeface="Arial"/>
              <a:buNone/>
            </a:pPr>
            <a:r>
              <a:rPr lang="de-DE" sz="1800" b="0" i="0" u="none" strike="noStrike" cap="none">
                <a:solidFill>
                  <a:srgbClr val="000000"/>
                </a:solidFill>
                <a:latin typeface="Times New Roman"/>
                <a:ea typeface="Times New Roman"/>
                <a:cs typeface="Times New Roman"/>
                <a:sym typeface="Times New Roman"/>
              </a:rPr>
              <a:t>  Pneumonia- Affected lungs</a:t>
            </a:r>
            <a:endParaRPr/>
          </a:p>
        </p:txBody>
      </p:sp>
      <p:pic>
        <p:nvPicPr>
          <p:cNvPr id="224" name="Google Shape;224;p5"/>
          <p:cNvPicPr preferRelativeResize="0"/>
          <p:nvPr/>
        </p:nvPicPr>
        <p:blipFill rotWithShape="1">
          <a:blip r:embed="rId7">
            <a:alphaModFix/>
          </a:blip>
          <a:srcRect/>
          <a:stretch/>
        </p:blipFill>
        <p:spPr>
          <a:xfrm>
            <a:off x="323528" y="260648"/>
            <a:ext cx="1481818" cy="134055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6"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230" name="Google Shape;230;p6"/>
          <p:cNvPicPr preferRelativeResize="0"/>
          <p:nvPr/>
        </p:nvPicPr>
        <p:blipFill rotWithShape="1">
          <a:blip r:embed="rId4">
            <a:alphaModFix/>
          </a:blip>
          <a:srcRect/>
          <a:stretch/>
        </p:blipFill>
        <p:spPr>
          <a:xfrm>
            <a:off x="-2283" y="0"/>
            <a:ext cx="2236107" cy="6858000"/>
          </a:xfrm>
          <a:prstGeom prst="rect">
            <a:avLst/>
          </a:prstGeom>
          <a:noFill/>
          <a:ln>
            <a:noFill/>
          </a:ln>
        </p:spPr>
      </p:pic>
      <p:pic>
        <p:nvPicPr>
          <p:cNvPr id="231" name="Google Shape;231;p6"/>
          <p:cNvPicPr preferRelativeResize="0"/>
          <p:nvPr/>
        </p:nvPicPr>
        <p:blipFill rotWithShape="1">
          <a:blip r:embed="rId5">
            <a:alphaModFix/>
          </a:blip>
          <a:srcRect t="30970" b="-30970"/>
          <a:stretch/>
        </p:blipFill>
        <p:spPr>
          <a:xfrm>
            <a:off x="-2284" y="2683636"/>
            <a:ext cx="2236106" cy="745370"/>
          </a:xfrm>
          <a:prstGeom prst="rect">
            <a:avLst/>
          </a:prstGeom>
          <a:noFill/>
          <a:ln>
            <a:noFill/>
          </a:ln>
        </p:spPr>
      </p:pic>
      <p:sp>
        <p:nvSpPr>
          <p:cNvPr id="232" name="Google Shape;232;p6"/>
          <p:cNvSpPr txBox="1"/>
          <p:nvPr/>
        </p:nvSpPr>
        <p:spPr>
          <a:xfrm>
            <a:off x="81698" y="6561348"/>
            <a:ext cx="19443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33" name="Google Shape;233;p6"/>
          <p:cNvSpPr txBox="1"/>
          <p:nvPr/>
        </p:nvSpPr>
        <p:spPr>
          <a:xfrm>
            <a:off x="215516" y="2230154"/>
            <a:ext cx="1890300" cy="31092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450000" marR="0" lvl="0" indent="-250825" algn="l" rtl="0">
              <a:lnSpc>
                <a:spcPct val="100000"/>
              </a:lnSpc>
              <a:spcBef>
                <a:spcPts val="0"/>
              </a:spcBef>
              <a:spcAft>
                <a:spcPts val="0"/>
              </a:spcAft>
              <a:buClr>
                <a:schemeClr val="dk1"/>
              </a:buClr>
              <a:buSzPts val="1400"/>
              <a:buFont typeface="Noto Sans Symbols"/>
              <a:buChar char="▪"/>
            </a:pPr>
            <a:r>
              <a:rPr lang="de-DE" sz="1400" b="0" i="0" u="none" strike="noStrike" cap="none">
                <a:solidFill>
                  <a:schemeClr val="dk1"/>
                </a:solidFill>
                <a:latin typeface="Times New Roman"/>
                <a:ea typeface="Times New Roman"/>
                <a:cs typeface="Times New Roman"/>
                <a:sym typeface="Times New Roman"/>
              </a:rPr>
              <a:t>I</a:t>
            </a:r>
            <a:r>
              <a:rPr lang="de-DE">
                <a:solidFill>
                  <a:schemeClr val="dk1"/>
                </a:solidFill>
                <a:latin typeface="Times New Roman"/>
                <a:ea typeface="Times New Roman"/>
                <a:cs typeface="Times New Roman"/>
                <a:sym typeface="Times New Roman"/>
              </a:rPr>
              <a:t>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Methods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234" name="Google Shape;234;p6"/>
          <p:cNvSpPr txBox="1"/>
          <p:nvPr/>
        </p:nvSpPr>
        <p:spPr>
          <a:xfrm>
            <a:off x="2375756" y="6561346"/>
            <a:ext cx="6588732"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35" name="Google Shape;235;p6"/>
          <p:cNvSpPr txBox="1"/>
          <p:nvPr/>
        </p:nvSpPr>
        <p:spPr>
          <a:xfrm>
            <a:off x="2375781" y="73905"/>
            <a:ext cx="6588600" cy="3693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70C0"/>
              </a:buClr>
              <a:buSzPts val="2000"/>
              <a:buFont typeface="Questrial"/>
              <a:buNone/>
            </a:pPr>
            <a:r>
              <a:rPr lang="de-DE" sz="1800" b="1">
                <a:solidFill>
                  <a:schemeClr val="accent1"/>
                </a:solidFill>
                <a:latin typeface="Calibri"/>
                <a:ea typeface="Calibri"/>
                <a:cs typeface="Calibri"/>
                <a:sym typeface="Calibri"/>
              </a:rPr>
              <a:t>Normal and pneumonia images</a:t>
            </a:r>
            <a:endParaRPr sz="1800" b="1" i="0" u="none" strike="noStrike" cap="none">
              <a:solidFill>
                <a:schemeClr val="accent1"/>
              </a:solidFill>
              <a:latin typeface="Calibri"/>
              <a:ea typeface="Calibri"/>
              <a:cs typeface="Calibri"/>
              <a:sym typeface="Calibri"/>
            </a:endParaRPr>
          </a:p>
        </p:txBody>
      </p:sp>
      <p:sp>
        <p:nvSpPr>
          <p:cNvPr id="236" name="Google Shape;236;p6"/>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pic>
        <p:nvPicPr>
          <p:cNvPr id="237" name="Google Shape;237;p6"/>
          <p:cNvPicPr preferRelativeResize="0"/>
          <p:nvPr/>
        </p:nvPicPr>
        <p:blipFill rotWithShape="1">
          <a:blip r:embed="rId6">
            <a:alphaModFix/>
          </a:blip>
          <a:srcRect/>
          <a:stretch/>
        </p:blipFill>
        <p:spPr>
          <a:xfrm>
            <a:off x="323528" y="260648"/>
            <a:ext cx="1481818" cy="1340556"/>
          </a:xfrm>
          <a:prstGeom prst="rect">
            <a:avLst/>
          </a:prstGeom>
          <a:noFill/>
          <a:ln>
            <a:noFill/>
          </a:ln>
        </p:spPr>
      </p:pic>
      <p:pic>
        <p:nvPicPr>
          <p:cNvPr id="238" name="Google Shape;238;p6"/>
          <p:cNvPicPr preferRelativeResize="0"/>
          <p:nvPr/>
        </p:nvPicPr>
        <p:blipFill rotWithShape="1">
          <a:blip r:embed="rId7">
            <a:alphaModFix/>
          </a:blip>
          <a:srcRect l="9069" t="1911" r="9533"/>
          <a:stretch/>
        </p:blipFill>
        <p:spPr>
          <a:xfrm>
            <a:off x="2375756" y="1151271"/>
            <a:ext cx="6588625" cy="4313130"/>
          </a:xfrm>
          <a:prstGeom prst="rect">
            <a:avLst/>
          </a:prstGeom>
          <a:noFill/>
          <a:ln>
            <a:noFill/>
          </a:ln>
        </p:spPr>
      </p:pic>
      <p:sp>
        <p:nvSpPr>
          <p:cNvPr id="239" name="Google Shape;239;p6"/>
          <p:cNvSpPr txBox="1"/>
          <p:nvPr/>
        </p:nvSpPr>
        <p:spPr>
          <a:xfrm>
            <a:off x="3759200" y="5464400"/>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fig.3 .Xray images of (a) normal and (b) pneumonia cases</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7"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245" name="Google Shape;245;p7"/>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246" name="Google Shape;246;p7"/>
          <p:cNvPicPr preferRelativeResize="0"/>
          <p:nvPr/>
        </p:nvPicPr>
        <p:blipFill rotWithShape="1">
          <a:blip r:embed="rId5">
            <a:alphaModFix/>
          </a:blip>
          <a:srcRect/>
          <a:stretch/>
        </p:blipFill>
        <p:spPr>
          <a:xfrm>
            <a:off x="-2284" y="2501886"/>
            <a:ext cx="2236106" cy="745370"/>
          </a:xfrm>
          <a:prstGeom prst="rect">
            <a:avLst/>
          </a:prstGeom>
          <a:noFill/>
          <a:ln>
            <a:noFill/>
          </a:ln>
        </p:spPr>
      </p:pic>
      <p:sp>
        <p:nvSpPr>
          <p:cNvPr id="247" name="Google Shape;247;p7"/>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248" name="Google Shape;248;p7"/>
          <p:cNvSpPr txBox="1"/>
          <p:nvPr/>
        </p:nvSpPr>
        <p:spPr>
          <a:xfrm>
            <a:off x="2155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Methods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249" name="Google Shape;249;p7"/>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50" name="Google Shape;250;p7"/>
          <p:cNvSpPr txBox="1"/>
          <p:nvPr/>
        </p:nvSpPr>
        <p:spPr>
          <a:xfrm>
            <a:off x="2375756" y="62430"/>
            <a:ext cx="6588600" cy="7080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Pipeline </a:t>
            </a:r>
            <a:endParaRPr sz="2400" b="1" i="0" u="none" strike="noStrike" cap="none">
              <a:solidFill>
                <a:schemeClr val="accent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51" name="Google Shape;251;p7"/>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
        <p:nvSpPr>
          <p:cNvPr id="252" name="Google Shape;252;p7"/>
          <p:cNvSpPr txBox="1"/>
          <p:nvPr/>
        </p:nvSpPr>
        <p:spPr>
          <a:xfrm>
            <a:off x="2763333" y="1082097"/>
            <a:ext cx="5962200" cy="4693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a:p>
          <a:p>
            <a:pPr marL="0" marR="0" lvl="0" indent="0" algn="l" rtl="0">
              <a:lnSpc>
                <a:spcPct val="150000"/>
              </a:lnSpc>
              <a:spcBef>
                <a:spcPts val="0"/>
              </a:spcBef>
              <a:spcAft>
                <a:spcPts val="0"/>
              </a:spcAft>
              <a:buNone/>
            </a:pPr>
            <a:endParaRPr/>
          </a:p>
          <a:p>
            <a:pPr marL="179999" lvl="0" indent="-114300" algn="just" rtl="0">
              <a:lnSpc>
                <a:spcPct val="150000"/>
              </a:lnSpc>
              <a:spcBef>
                <a:spcPts val="0"/>
              </a:spcBef>
              <a:spcAft>
                <a:spcPts val="0"/>
              </a:spcAft>
              <a:buClr>
                <a:schemeClr val="dk1"/>
              </a:buClr>
              <a:buSzPts val="1800"/>
              <a:buFont typeface="Noto Sans Symbols"/>
              <a:buChar char="⮚"/>
            </a:pPr>
            <a:r>
              <a:rPr lang="de-DE" sz="1800">
                <a:solidFill>
                  <a:schemeClr val="dk1"/>
                </a:solidFill>
                <a:latin typeface="Times New Roman"/>
                <a:ea typeface="Times New Roman"/>
                <a:cs typeface="Times New Roman"/>
                <a:sym typeface="Times New Roman"/>
              </a:rPr>
              <a:t>     Configuration File- Use .yaml file for configurations</a:t>
            </a:r>
            <a:endParaRPr>
              <a:solidFill>
                <a:schemeClr val="dk1"/>
              </a:solidFill>
            </a:endParaRPr>
          </a:p>
          <a:p>
            <a:pPr marL="179999" lvl="0" indent="-114300" algn="just" rtl="0">
              <a:lnSpc>
                <a:spcPct val="150000"/>
              </a:lnSpc>
              <a:spcBef>
                <a:spcPts val="0"/>
              </a:spcBef>
              <a:spcAft>
                <a:spcPts val="0"/>
              </a:spcAft>
              <a:buClr>
                <a:schemeClr val="dk1"/>
              </a:buClr>
              <a:buSzPts val="1800"/>
              <a:buFont typeface="Noto Sans Symbols"/>
              <a:buChar char="⮚"/>
            </a:pPr>
            <a:r>
              <a:rPr lang="de-DE" sz="1800">
                <a:solidFill>
                  <a:schemeClr val="dk1"/>
                </a:solidFill>
                <a:latin typeface="Times New Roman"/>
                <a:ea typeface="Times New Roman"/>
                <a:cs typeface="Times New Roman"/>
                <a:sym typeface="Times New Roman"/>
              </a:rPr>
              <a:t>     Reproducibility -Use torch.manual_seed</a:t>
            </a:r>
            <a:endParaRPr/>
          </a:p>
          <a:p>
            <a:pPr marL="450000" marR="0" lvl="0" indent="-342900" algn="l" rtl="0">
              <a:lnSpc>
                <a:spcPct val="150000"/>
              </a:lnSpc>
              <a:spcBef>
                <a:spcPts val="0"/>
              </a:spcBef>
              <a:spcAft>
                <a:spcPts val="0"/>
              </a:spcAft>
              <a:buClr>
                <a:srgbClr val="000000"/>
              </a:buClr>
              <a:buSzPts val="1800"/>
              <a:buFont typeface="Times New Roman"/>
              <a:buChar char="➢"/>
            </a:pPr>
            <a:r>
              <a:rPr lang="de-DE" sz="1800" b="0" i="0" u="none" strike="noStrike" cap="none">
                <a:solidFill>
                  <a:srgbClr val="000000"/>
                </a:solidFill>
                <a:latin typeface="Times New Roman"/>
                <a:ea typeface="Times New Roman"/>
                <a:cs typeface="Times New Roman"/>
                <a:sym typeface="Times New Roman"/>
              </a:rPr>
              <a:t>Data Augmentation</a:t>
            </a:r>
            <a:endParaRPr/>
          </a:p>
          <a:p>
            <a:pPr marL="450000" marR="0" lvl="0" indent="-342900" algn="l" rtl="0">
              <a:lnSpc>
                <a:spcPct val="150000"/>
              </a:lnSpc>
              <a:spcBef>
                <a:spcPts val="0"/>
              </a:spcBef>
              <a:spcAft>
                <a:spcPts val="0"/>
              </a:spcAft>
              <a:buClr>
                <a:srgbClr val="000000"/>
              </a:buClr>
              <a:buSzPts val="1800"/>
              <a:buFont typeface="Times New Roman"/>
              <a:buChar char="➢"/>
            </a:pPr>
            <a:r>
              <a:rPr lang="de-DE" sz="1800" b="0" i="0" u="none" strike="noStrike" cap="none">
                <a:solidFill>
                  <a:srgbClr val="000000"/>
                </a:solidFill>
                <a:latin typeface="Times New Roman"/>
                <a:ea typeface="Times New Roman"/>
                <a:cs typeface="Times New Roman"/>
                <a:sym typeface="Times New Roman"/>
              </a:rPr>
              <a:t>Handling class imbalance</a:t>
            </a:r>
            <a:endParaRPr/>
          </a:p>
          <a:p>
            <a:pPr marL="450000" marR="0" lvl="0" indent="-342900" algn="l" rtl="0">
              <a:lnSpc>
                <a:spcPct val="150000"/>
              </a:lnSpc>
              <a:spcBef>
                <a:spcPts val="0"/>
              </a:spcBef>
              <a:spcAft>
                <a:spcPts val="0"/>
              </a:spcAft>
              <a:buClr>
                <a:srgbClr val="000000"/>
              </a:buClr>
              <a:buSzPts val="1800"/>
              <a:buFont typeface="Times New Roman"/>
              <a:buChar char="➢"/>
            </a:pPr>
            <a:r>
              <a:rPr lang="de-DE" sz="1800" b="0" i="0" u="none" strike="noStrike" cap="none">
                <a:solidFill>
                  <a:srgbClr val="000000"/>
                </a:solidFill>
                <a:latin typeface="Times New Roman"/>
                <a:ea typeface="Times New Roman"/>
                <a:cs typeface="Times New Roman"/>
                <a:sym typeface="Times New Roman"/>
              </a:rPr>
              <a:t>Advanced Preprocessing( Normalization and histogram Equalization)</a:t>
            </a:r>
            <a:endParaRPr sz="1800" b="0" i="0" u="none" strike="noStrike" cap="none">
              <a:solidFill>
                <a:srgbClr val="000000"/>
              </a:solidFill>
              <a:latin typeface="Times New Roman"/>
              <a:ea typeface="Times New Roman"/>
              <a:cs typeface="Times New Roman"/>
              <a:sym typeface="Times New Roman"/>
            </a:endParaRPr>
          </a:p>
          <a:p>
            <a:pPr marL="179999" marR="0" lvl="0" indent="-114300" algn="l" rtl="0">
              <a:lnSpc>
                <a:spcPct val="150000"/>
              </a:lnSpc>
              <a:spcBef>
                <a:spcPts val="0"/>
              </a:spcBef>
              <a:spcAft>
                <a:spcPts val="0"/>
              </a:spcAft>
              <a:buClr>
                <a:srgbClr val="000000"/>
              </a:buClr>
              <a:buSzPts val="1800"/>
              <a:buFont typeface="Noto Sans Symbols"/>
              <a:buChar char="⮚"/>
            </a:pPr>
            <a:r>
              <a:rPr lang="de-DE" sz="1800">
                <a:latin typeface="Times New Roman"/>
                <a:ea typeface="Times New Roman"/>
                <a:cs typeface="Times New Roman"/>
                <a:sym typeface="Times New Roman"/>
              </a:rPr>
              <a:t>     </a:t>
            </a:r>
            <a:r>
              <a:rPr lang="de-DE" sz="1800" b="0" i="0" u="none" strike="noStrike" cap="none">
                <a:solidFill>
                  <a:srgbClr val="000000"/>
                </a:solidFill>
                <a:latin typeface="Times New Roman"/>
                <a:ea typeface="Times New Roman"/>
                <a:cs typeface="Times New Roman"/>
                <a:sym typeface="Times New Roman"/>
              </a:rPr>
              <a:t>Model Selection</a:t>
            </a:r>
            <a:endParaRPr sz="1800">
              <a:latin typeface="Times New Roman"/>
              <a:ea typeface="Times New Roman"/>
              <a:cs typeface="Times New Roman"/>
              <a:sym typeface="Times New Roman"/>
            </a:endParaRPr>
          </a:p>
          <a:p>
            <a:pPr marL="179999" marR="0" lvl="0" indent="-114300" algn="l" rtl="0">
              <a:lnSpc>
                <a:spcPct val="150000"/>
              </a:lnSpc>
              <a:spcBef>
                <a:spcPts val="0"/>
              </a:spcBef>
              <a:spcAft>
                <a:spcPts val="0"/>
              </a:spcAft>
              <a:buClr>
                <a:srgbClr val="000000"/>
              </a:buClr>
              <a:buSzPts val="1800"/>
              <a:buFont typeface="Noto Sans Symbols"/>
              <a:buChar char="⮚"/>
            </a:pPr>
            <a:r>
              <a:rPr lang="de-DE" sz="1800">
                <a:solidFill>
                  <a:schemeClr val="dk1"/>
                </a:solidFill>
                <a:latin typeface="Times New Roman"/>
                <a:ea typeface="Times New Roman"/>
                <a:cs typeface="Times New Roman"/>
                <a:sym typeface="Times New Roman"/>
              </a:rPr>
              <a:t>      Model Evaluation-Accuracy, Precision, Recall, F1-Score,            AUC-ROC</a:t>
            </a:r>
            <a:endParaRPr>
              <a:solidFill>
                <a:schemeClr val="dk1"/>
              </a:solidFill>
            </a:endParaRPr>
          </a:p>
          <a:p>
            <a:pPr marL="179999" marR="0" lvl="0" indent="-114300" algn="l" rtl="0">
              <a:lnSpc>
                <a:spcPct val="150000"/>
              </a:lnSpc>
              <a:spcBef>
                <a:spcPts val="0"/>
              </a:spcBef>
              <a:spcAft>
                <a:spcPts val="0"/>
              </a:spcAft>
              <a:buClr>
                <a:srgbClr val="000000"/>
              </a:buClr>
              <a:buSzPts val="1800"/>
              <a:buFont typeface="Noto Sans Symbols"/>
              <a:buChar char="⮚"/>
            </a:pPr>
            <a:r>
              <a:rPr lang="de-DE" sz="1800">
                <a:solidFill>
                  <a:schemeClr val="dk1"/>
                </a:solidFill>
                <a:latin typeface="Times New Roman"/>
                <a:ea typeface="Times New Roman"/>
                <a:cs typeface="Times New Roman"/>
                <a:sym typeface="Times New Roman"/>
              </a:rPr>
              <a:t>      K fold validation</a:t>
            </a:r>
            <a:endParaRPr>
              <a:solidFill>
                <a:schemeClr val="dk1"/>
              </a:solidFill>
            </a:endParaRPr>
          </a:p>
          <a:p>
            <a:pPr marL="457200" marR="0" lvl="0" indent="0" algn="l" rtl="0">
              <a:lnSpc>
                <a:spcPct val="150000"/>
              </a:lnSpc>
              <a:spcBef>
                <a:spcPts val="0"/>
              </a:spcBef>
              <a:spcAft>
                <a:spcPts val="0"/>
              </a:spcAft>
              <a:buNone/>
            </a:pPr>
            <a:endParaRPr sz="1800">
              <a:latin typeface="Times New Roman"/>
              <a:ea typeface="Times New Roman"/>
              <a:cs typeface="Times New Roman"/>
              <a:sym typeface="Times New Roman"/>
            </a:endParaRPr>
          </a:p>
          <a:p>
            <a:pPr marL="457200" marR="0" lvl="0" indent="0" algn="l" rtl="0">
              <a:lnSpc>
                <a:spcPct val="150000"/>
              </a:lnSpc>
              <a:spcBef>
                <a:spcPts val="70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482600" marR="0" lvl="0" indent="431800" algn="l" rtl="0">
              <a:lnSpc>
                <a:spcPct val="115000"/>
              </a:lnSpc>
              <a:spcBef>
                <a:spcPts val="50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pic>
        <p:nvPicPr>
          <p:cNvPr id="253" name="Google Shape;253;p7"/>
          <p:cNvPicPr preferRelativeResize="0"/>
          <p:nvPr/>
        </p:nvPicPr>
        <p:blipFill rotWithShape="1">
          <a:blip r:embed="rId6">
            <a:alphaModFix/>
          </a:blip>
          <a:srcRect/>
          <a:stretch/>
        </p:blipFill>
        <p:spPr>
          <a:xfrm>
            <a:off x="323528" y="260648"/>
            <a:ext cx="1481818" cy="134055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8"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259" name="Google Shape;259;p8"/>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2284" y="2501886"/>
            <a:ext cx="2236106" cy="745370"/>
          </a:xfrm>
          <a:prstGeom prst="rect">
            <a:avLst/>
          </a:prstGeom>
          <a:noFill/>
          <a:ln>
            <a:noFill/>
          </a:ln>
        </p:spPr>
      </p:pic>
      <p:sp>
        <p:nvSpPr>
          <p:cNvPr id="261" name="Google Shape;261;p8"/>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262" name="Google Shape;262;p8"/>
          <p:cNvSpPr txBox="1"/>
          <p:nvPr/>
        </p:nvSpPr>
        <p:spPr>
          <a:xfrm>
            <a:off x="2155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Methods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Calibri"/>
              <a:ea typeface="Calibri"/>
              <a:cs typeface="Calibri"/>
              <a:sym typeface="Calibri"/>
            </a:endParaRPr>
          </a:p>
        </p:txBody>
      </p:sp>
      <p:sp>
        <p:nvSpPr>
          <p:cNvPr id="263" name="Google Shape;263;p8"/>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64" name="Google Shape;264;p8"/>
          <p:cNvSpPr txBox="1"/>
          <p:nvPr/>
        </p:nvSpPr>
        <p:spPr>
          <a:xfrm>
            <a:off x="2375756" y="62430"/>
            <a:ext cx="6588600" cy="4617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Pipeline </a:t>
            </a:r>
            <a:endParaRPr sz="1600" b="0" i="0" u="none" strike="noStrike" cap="none">
              <a:solidFill>
                <a:schemeClr val="dk1"/>
              </a:solidFill>
              <a:latin typeface="Calibri"/>
              <a:ea typeface="Calibri"/>
              <a:cs typeface="Calibri"/>
              <a:sym typeface="Calibri"/>
            </a:endParaRPr>
          </a:p>
        </p:txBody>
      </p:sp>
      <p:sp>
        <p:nvSpPr>
          <p:cNvPr id="265" name="Google Shape;265;p8"/>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pic>
        <p:nvPicPr>
          <p:cNvPr id="266" name="Google Shape;266;p8"/>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267" name="Google Shape;267;p8"/>
          <p:cNvSpPr txBox="1"/>
          <p:nvPr/>
        </p:nvSpPr>
        <p:spPr>
          <a:xfrm>
            <a:off x="2638562" y="1235372"/>
            <a:ext cx="6063000" cy="28014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Noto Sans Symbols"/>
              <a:buChar char="⮚"/>
            </a:pPr>
            <a:r>
              <a:rPr lang="de-DE" sz="1800" b="0" i="0" u="none" strike="noStrike" cap="none">
                <a:solidFill>
                  <a:srgbClr val="000000"/>
                </a:solidFill>
                <a:latin typeface="Times New Roman"/>
                <a:ea typeface="Times New Roman"/>
                <a:cs typeface="Times New Roman"/>
                <a:sym typeface="Times New Roman"/>
              </a:rPr>
              <a:t>Fine-Tuning and Optimization-Hyperparameter tuning process and techniques</a:t>
            </a:r>
            <a:endParaRPr/>
          </a:p>
          <a:p>
            <a:pPr marL="285750" marR="0" lvl="0" indent="-285750" algn="just" rtl="0">
              <a:lnSpc>
                <a:spcPct val="150000"/>
              </a:lnSpc>
              <a:spcBef>
                <a:spcPts val="0"/>
              </a:spcBef>
              <a:spcAft>
                <a:spcPts val="0"/>
              </a:spcAft>
              <a:buClr>
                <a:srgbClr val="000000"/>
              </a:buClr>
              <a:buSzPts val="1800"/>
              <a:buFont typeface="Noto Sans Symbols"/>
              <a:buChar char="⮚"/>
            </a:pPr>
            <a:r>
              <a:rPr lang="de-DE" sz="1800" b="0" i="0" u="none" strike="noStrike" cap="none">
                <a:solidFill>
                  <a:srgbClr val="000000"/>
                </a:solidFill>
                <a:latin typeface="Times New Roman"/>
                <a:ea typeface="Times New Roman"/>
                <a:cs typeface="Times New Roman"/>
                <a:sym typeface="Times New Roman"/>
              </a:rPr>
              <a:t>Bootstrap aggregating</a:t>
            </a:r>
            <a:endParaRPr/>
          </a:p>
          <a:p>
            <a:pPr marL="285750" marR="0" lvl="0" indent="-285750" algn="just" rtl="0">
              <a:lnSpc>
                <a:spcPct val="150000"/>
              </a:lnSpc>
              <a:spcBef>
                <a:spcPts val="0"/>
              </a:spcBef>
              <a:spcAft>
                <a:spcPts val="0"/>
              </a:spcAft>
              <a:buClr>
                <a:srgbClr val="000000"/>
              </a:buClr>
              <a:buSzPts val="1800"/>
              <a:buFont typeface="Noto Sans Symbols"/>
              <a:buChar char="⮚"/>
            </a:pPr>
            <a:r>
              <a:rPr lang="de-DE" sz="1800" b="0" i="0" u="none" strike="noStrike" cap="none">
                <a:solidFill>
                  <a:srgbClr val="000000"/>
                </a:solidFill>
                <a:latin typeface="Times New Roman"/>
                <a:ea typeface="Times New Roman"/>
                <a:cs typeface="Times New Roman"/>
                <a:sym typeface="Times New Roman"/>
              </a:rPr>
              <a:t>Model Checkpointing -Save best models (.pth)</a:t>
            </a:r>
            <a:endParaRPr/>
          </a:p>
          <a:p>
            <a:pPr marL="285750" marR="0" lvl="0" indent="-285750" algn="just" rtl="0">
              <a:lnSpc>
                <a:spcPct val="150000"/>
              </a:lnSpc>
              <a:spcBef>
                <a:spcPts val="0"/>
              </a:spcBef>
              <a:spcAft>
                <a:spcPts val="0"/>
              </a:spcAft>
              <a:buClr>
                <a:srgbClr val="000000"/>
              </a:buClr>
              <a:buSzPts val="1800"/>
              <a:buFont typeface="Noto Sans Symbols"/>
              <a:buChar char="⮚"/>
            </a:pPr>
            <a:r>
              <a:rPr lang="de-DE" sz="1800" b="0" i="0" u="none" strike="noStrike" cap="none">
                <a:solidFill>
                  <a:srgbClr val="000000"/>
                </a:solidFill>
                <a:latin typeface="Times New Roman"/>
                <a:ea typeface="Times New Roman"/>
                <a:cs typeface="Times New Roman"/>
                <a:sym typeface="Times New Roman"/>
              </a:rPr>
              <a:t>Inference Pipeline - Build inference class/function </a:t>
            </a:r>
            <a:endParaRPr/>
          </a:p>
          <a:p>
            <a:pPr marL="457200" marR="0" lvl="0" indent="0" algn="just" rtl="0">
              <a:lnSpc>
                <a:spcPct val="150000"/>
              </a:lnSpc>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9"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273" name="Google Shape;273;p9"/>
          <p:cNvPicPr preferRelativeResize="0"/>
          <p:nvPr/>
        </p:nvPicPr>
        <p:blipFill rotWithShape="1">
          <a:blip r:embed="rId4">
            <a:alphaModFix/>
          </a:blip>
          <a:srcRect/>
          <a:stretch/>
        </p:blipFill>
        <p:spPr>
          <a:xfrm>
            <a:off x="-130292" y="-19754"/>
            <a:ext cx="2236108" cy="6858000"/>
          </a:xfrm>
          <a:prstGeom prst="rect">
            <a:avLst/>
          </a:prstGeom>
          <a:noFill/>
          <a:ln>
            <a:noFill/>
          </a:ln>
        </p:spPr>
      </p:pic>
      <p:pic>
        <p:nvPicPr>
          <p:cNvPr id="274" name="Google Shape;274;p9"/>
          <p:cNvPicPr preferRelativeResize="0"/>
          <p:nvPr/>
        </p:nvPicPr>
        <p:blipFill rotWithShape="1">
          <a:blip r:embed="rId5">
            <a:alphaModFix/>
          </a:blip>
          <a:srcRect/>
          <a:stretch/>
        </p:blipFill>
        <p:spPr>
          <a:xfrm>
            <a:off x="-130292" y="2730486"/>
            <a:ext cx="2236106" cy="745370"/>
          </a:xfrm>
          <a:prstGeom prst="rect">
            <a:avLst/>
          </a:prstGeom>
          <a:noFill/>
          <a:ln>
            <a:noFill/>
          </a:ln>
        </p:spPr>
      </p:pic>
      <p:sp>
        <p:nvSpPr>
          <p:cNvPr id="275" name="Google Shape;275;p9"/>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05.0.2024</a:t>
            </a:r>
            <a:endParaRPr sz="1200" b="0" i="0" u="none" strike="noStrike" cap="none">
              <a:solidFill>
                <a:schemeClr val="dk1"/>
              </a:solidFill>
              <a:latin typeface="Calibri"/>
              <a:ea typeface="Calibri"/>
              <a:cs typeface="Calibri"/>
              <a:sym typeface="Calibri"/>
            </a:endParaRPr>
          </a:p>
        </p:txBody>
      </p:sp>
      <p:sp>
        <p:nvSpPr>
          <p:cNvPr id="276" name="Google Shape;276;p9"/>
          <p:cNvSpPr txBox="1"/>
          <p:nvPr/>
        </p:nvSpPr>
        <p:spPr>
          <a:xfrm>
            <a:off x="215516" y="2102429"/>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Model</a:t>
            </a:r>
            <a:endParaRPr>
              <a:solidFill>
                <a:schemeClr val="lt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277" name="Google Shape;277;p9"/>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78" name="Google Shape;278;p9"/>
          <p:cNvSpPr txBox="1"/>
          <p:nvPr/>
        </p:nvSpPr>
        <p:spPr>
          <a:xfrm>
            <a:off x="2375756" y="62430"/>
            <a:ext cx="658860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79" name="Google Shape;279;p9"/>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pic>
        <p:nvPicPr>
          <p:cNvPr id="280" name="Google Shape;280;p9"/>
          <p:cNvPicPr preferRelativeResize="0"/>
          <p:nvPr/>
        </p:nvPicPr>
        <p:blipFill rotWithShape="1">
          <a:blip r:embed="rId6">
            <a:alphaModFix/>
          </a:blip>
          <a:srcRect/>
          <a:stretch/>
        </p:blipFill>
        <p:spPr>
          <a:xfrm>
            <a:off x="323528" y="260648"/>
            <a:ext cx="1481818" cy="1340556"/>
          </a:xfrm>
          <a:prstGeom prst="rect">
            <a:avLst/>
          </a:prstGeom>
          <a:noFill/>
          <a:ln>
            <a:noFill/>
          </a:ln>
        </p:spPr>
      </p:pic>
      <p:pic>
        <p:nvPicPr>
          <p:cNvPr id="281" name="Google Shape;281;p9"/>
          <p:cNvPicPr preferRelativeResize="0"/>
          <p:nvPr/>
        </p:nvPicPr>
        <p:blipFill rotWithShape="1">
          <a:blip r:embed="rId7">
            <a:alphaModFix/>
          </a:blip>
          <a:srcRect l="1" r="37310" b="-5694"/>
          <a:stretch/>
        </p:blipFill>
        <p:spPr>
          <a:xfrm>
            <a:off x="2375756" y="2102429"/>
            <a:ext cx="6311044" cy="1721032"/>
          </a:xfrm>
          <a:prstGeom prst="rect">
            <a:avLst/>
          </a:prstGeom>
          <a:noFill/>
          <a:ln>
            <a:noFill/>
          </a:ln>
        </p:spPr>
      </p:pic>
      <p:sp>
        <p:nvSpPr>
          <p:cNvPr id="282" name="Google Shape;282;p9"/>
          <p:cNvSpPr txBox="1"/>
          <p:nvPr/>
        </p:nvSpPr>
        <p:spPr>
          <a:xfrm>
            <a:off x="2233822" y="1535219"/>
            <a:ext cx="4636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b="1"/>
          </a:p>
        </p:txBody>
      </p:sp>
      <p:sp>
        <p:nvSpPr>
          <p:cNvPr id="283" name="Google Shape;283;p9"/>
          <p:cNvSpPr txBox="1"/>
          <p:nvPr/>
        </p:nvSpPr>
        <p:spPr>
          <a:xfrm>
            <a:off x="2559636" y="165649"/>
            <a:ext cx="6404700" cy="4002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Font typeface="Arial"/>
              <a:buNone/>
            </a:pPr>
            <a:r>
              <a:rPr lang="de-DE" sz="2000" b="1">
                <a:solidFill>
                  <a:srgbClr val="0070C0"/>
                </a:solidFill>
                <a:latin typeface="Times New Roman"/>
                <a:ea typeface="Times New Roman"/>
                <a:cs typeface="Times New Roman"/>
                <a:sym typeface="Times New Roman"/>
              </a:rPr>
              <a:t>CNN Architecture</a:t>
            </a:r>
            <a:endParaRPr sz="2400" b="1" i="0" u="none" strike="noStrike" cap="none">
              <a:solidFill>
                <a:srgbClr val="0070C0"/>
              </a:solidFill>
              <a:latin typeface="Calibri"/>
              <a:ea typeface="Calibri"/>
              <a:cs typeface="Calibri"/>
              <a:sym typeface="Calibri"/>
            </a:endParaRPr>
          </a:p>
        </p:txBody>
      </p:sp>
      <p:pic>
        <p:nvPicPr>
          <p:cNvPr id="284" name="Google Shape;284;p9"/>
          <p:cNvPicPr preferRelativeResize="0"/>
          <p:nvPr/>
        </p:nvPicPr>
        <p:blipFill rotWithShape="1">
          <a:blip r:embed="rId7">
            <a:alphaModFix/>
          </a:blip>
          <a:srcRect l="87986" r="-2644" b="25201"/>
          <a:stretch/>
        </p:blipFill>
        <p:spPr>
          <a:xfrm>
            <a:off x="3198932" y="3728185"/>
            <a:ext cx="2085260" cy="1721032"/>
          </a:xfrm>
          <a:prstGeom prst="rect">
            <a:avLst/>
          </a:prstGeom>
          <a:noFill/>
          <a:ln>
            <a:noFill/>
          </a:ln>
        </p:spPr>
      </p:pic>
      <p:pic>
        <p:nvPicPr>
          <p:cNvPr id="285" name="Google Shape;285;p9"/>
          <p:cNvPicPr preferRelativeResize="0"/>
          <p:nvPr/>
        </p:nvPicPr>
        <p:blipFill rotWithShape="1">
          <a:blip r:embed="rId7">
            <a:alphaModFix/>
          </a:blip>
          <a:srcRect l="61542" r="12716" b="19940"/>
          <a:stretch/>
        </p:blipFill>
        <p:spPr>
          <a:xfrm rot="10800000">
            <a:off x="5031744" y="3823461"/>
            <a:ext cx="2474568" cy="1251467"/>
          </a:xfrm>
          <a:prstGeom prst="rect">
            <a:avLst/>
          </a:prstGeom>
          <a:noFill/>
          <a:ln>
            <a:noFill/>
          </a:ln>
        </p:spPr>
      </p:pic>
      <p:sp>
        <p:nvSpPr>
          <p:cNvPr id="286" name="Google Shape;286;p9"/>
          <p:cNvSpPr/>
          <p:nvPr/>
        </p:nvSpPr>
        <p:spPr>
          <a:xfrm rot="-5400000" flipH="1">
            <a:off x="7101185" y="3108964"/>
            <a:ext cx="2318637" cy="1238442"/>
          </a:xfrm>
          <a:prstGeom prst="bentUpArrow">
            <a:avLst>
              <a:gd name="adj1" fmla="val 25000"/>
              <a:gd name="adj2" fmla="val 25000"/>
              <a:gd name="adj3" fmla="val 25000"/>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87" name="Google Shape;287;p9"/>
          <p:cNvPicPr preferRelativeResize="0"/>
          <p:nvPr/>
        </p:nvPicPr>
        <p:blipFill rotWithShape="1">
          <a:blip r:embed="rId7">
            <a:alphaModFix/>
          </a:blip>
          <a:srcRect l="62243" t="78012" r="11670" b="-2"/>
          <a:stretch/>
        </p:blipFill>
        <p:spPr>
          <a:xfrm>
            <a:off x="5031743" y="5258223"/>
            <a:ext cx="2945847" cy="401644"/>
          </a:xfrm>
          <a:prstGeom prst="rect">
            <a:avLst/>
          </a:prstGeom>
          <a:noFill/>
          <a:ln>
            <a:noFill/>
          </a:ln>
        </p:spPr>
      </p:pic>
      <p:sp>
        <p:nvSpPr>
          <p:cNvPr id="288" name="Google Shape;288;p9"/>
          <p:cNvSpPr txBox="1"/>
          <p:nvPr/>
        </p:nvSpPr>
        <p:spPr>
          <a:xfrm>
            <a:off x="4107763" y="5767538"/>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fig.4. CNN Architecture </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10" descr="C:\Users\Manuel Kohl\Documents\Studium\Masterstudium BMT\SNN-Unit\Headline Gradient.png"/>
          <p:cNvPicPr preferRelativeResize="0"/>
          <p:nvPr/>
        </p:nvPicPr>
        <p:blipFill rotWithShape="1">
          <a:blip r:embed="rId3">
            <a:alphaModFix/>
          </a:blip>
          <a:srcRect/>
          <a:stretch/>
        </p:blipFill>
        <p:spPr>
          <a:xfrm>
            <a:off x="2214992" y="455379"/>
            <a:ext cx="6910177" cy="475547"/>
          </a:xfrm>
          <a:prstGeom prst="rect">
            <a:avLst/>
          </a:prstGeom>
          <a:noFill/>
          <a:ln>
            <a:noFill/>
          </a:ln>
        </p:spPr>
      </p:pic>
      <p:pic>
        <p:nvPicPr>
          <p:cNvPr id="294" name="Google Shape;294;p10"/>
          <p:cNvPicPr preferRelativeResize="0"/>
          <p:nvPr/>
        </p:nvPicPr>
        <p:blipFill rotWithShape="1">
          <a:blip r:embed="rId4">
            <a:alphaModFix/>
          </a:blip>
          <a:srcRect/>
          <a:stretch/>
        </p:blipFill>
        <p:spPr>
          <a:xfrm>
            <a:off x="-2283" y="0"/>
            <a:ext cx="2236107" cy="6858000"/>
          </a:xfrm>
          <a:prstGeom prst="rect">
            <a:avLst/>
          </a:prstGeom>
          <a:noFill/>
          <a:ln>
            <a:noFill/>
          </a:ln>
        </p:spPr>
      </p:pic>
      <p:pic>
        <p:nvPicPr>
          <p:cNvPr id="295" name="Google Shape;295;p10"/>
          <p:cNvPicPr preferRelativeResize="0"/>
          <p:nvPr/>
        </p:nvPicPr>
        <p:blipFill rotWithShape="1">
          <a:blip r:embed="rId5">
            <a:alphaModFix/>
          </a:blip>
          <a:srcRect/>
          <a:stretch/>
        </p:blipFill>
        <p:spPr>
          <a:xfrm>
            <a:off x="-2284" y="2889546"/>
            <a:ext cx="2236106" cy="745370"/>
          </a:xfrm>
          <a:prstGeom prst="rect">
            <a:avLst/>
          </a:prstGeom>
          <a:noFill/>
          <a:ln>
            <a:noFill/>
          </a:ln>
        </p:spPr>
      </p:pic>
      <p:sp>
        <p:nvSpPr>
          <p:cNvPr id="296" name="Google Shape;296;p10"/>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297" name="Google Shape;297;p10"/>
          <p:cNvSpPr txBox="1"/>
          <p:nvPr/>
        </p:nvSpPr>
        <p:spPr>
          <a:xfrm>
            <a:off x="2155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Model</a:t>
            </a:r>
            <a:endParaRPr>
              <a:solidFill>
                <a:schemeClr val="lt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298" name="Google Shape;298;p10"/>
          <p:cNvSpPr txBox="1"/>
          <p:nvPr/>
        </p:nvSpPr>
        <p:spPr>
          <a:xfrm>
            <a:off x="2375756" y="6561346"/>
            <a:ext cx="6588732"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299" name="Google Shape;299;p10"/>
          <p:cNvSpPr txBox="1"/>
          <p:nvPr/>
        </p:nvSpPr>
        <p:spPr>
          <a:xfrm>
            <a:off x="2375781" y="62430"/>
            <a:ext cx="658860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300" name="Google Shape;300;p10"/>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10</a:t>
            </a:fld>
            <a:endParaRPr sz="1200" b="0" i="0" u="none" strike="noStrike" cap="none">
              <a:solidFill>
                <a:schemeClr val="dk1"/>
              </a:solidFill>
              <a:latin typeface="Calibri"/>
              <a:ea typeface="Calibri"/>
              <a:cs typeface="Calibri"/>
              <a:sym typeface="Calibri"/>
            </a:endParaRPr>
          </a:p>
        </p:txBody>
      </p:sp>
      <p:pic>
        <p:nvPicPr>
          <p:cNvPr id="301" name="Google Shape;301;p10"/>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02" name="Google Shape;302;p10"/>
          <p:cNvSpPr txBox="1"/>
          <p:nvPr/>
        </p:nvSpPr>
        <p:spPr>
          <a:xfrm>
            <a:off x="3915450" y="5817050"/>
            <a:ext cx="3214800" cy="276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
        <p:nvSpPr>
          <p:cNvPr id="303" name="Google Shape;303;p10"/>
          <p:cNvSpPr txBox="1"/>
          <p:nvPr/>
        </p:nvSpPr>
        <p:spPr>
          <a:xfrm>
            <a:off x="2591782" y="131934"/>
            <a:ext cx="6588600" cy="46166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Different models</a:t>
            </a:r>
            <a:endParaRPr sz="2400" b="1" i="0" u="none" strike="noStrike" cap="none">
              <a:solidFill>
                <a:schemeClr val="accent1"/>
              </a:solidFill>
              <a:latin typeface="Calibri"/>
              <a:ea typeface="Calibri"/>
              <a:cs typeface="Calibri"/>
              <a:sym typeface="Calibri"/>
            </a:endParaRPr>
          </a:p>
        </p:txBody>
      </p:sp>
      <p:sp>
        <p:nvSpPr>
          <p:cNvPr id="304" name="Google Shape;304;p10"/>
          <p:cNvSpPr txBox="1"/>
          <p:nvPr/>
        </p:nvSpPr>
        <p:spPr>
          <a:xfrm>
            <a:off x="2451673" y="1825871"/>
            <a:ext cx="6673500" cy="15699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de-DE" sz="1600" b="1" i="0" u="none" strike="noStrike" cap="none">
                <a:solidFill>
                  <a:srgbClr val="000000"/>
                </a:solidFill>
                <a:latin typeface="Times New Roman"/>
                <a:ea typeface="Times New Roman"/>
                <a:cs typeface="Times New Roman"/>
                <a:sym typeface="Times New Roman"/>
              </a:rPr>
              <a:t>VGG16 (Visual Geometry Group Network)</a:t>
            </a:r>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VGG16 is CNN known for its uniform architecture and deep structure. </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16 weights layers (13 convolution layers and 3 fully connected layers).</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Each block will be having max pooling layer of size 2x2 with stride of 2 .</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Used for Image classification and image segmentation.</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Activation Function: Linear function</a:t>
            </a:r>
            <a:endParaRPr sz="1600">
              <a:latin typeface="Times New Roman"/>
              <a:ea typeface="Times New Roman"/>
              <a:cs typeface="Times New Roman"/>
              <a:sym typeface="Times New Roman"/>
            </a:endParaRPr>
          </a:p>
        </p:txBody>
      </p:sp>
      <p:sp>
        <p:nvSpPr>
          <p:cNvPr id="305" name="Google Shape;305;p10"/>
          <p:cNvSpPr txBox="1"/>
          <p:nvPr/>
        </p:nvSpPr>
        <p:spPr>
          <a:xfrm>
            <a:off x="2510325" y="3634925"/>
            <a:ext cx="6319500" cy="15393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de-DE" sz="1600" b="1" i="0" u="none" strike="noStrike" cap="none">
                <a:solidFill>
                  <a:srgbClr val="000000"/>
                </a:solidFill>
                <a:latin typeface="Times New Roman"/>
                <a:ea typeface="Times New Roman"/>
                <a:cs typeface="Times New Roman"/>
                <a:sym typeface="Times New Roman"/>
              </a:rPr>
              <a:t>MobileNetV3:</a:t>
            </a:r>
            <a:endParaRPr sz="1600" b="1">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SzPts val="1500"/>
              <a:buFont typeface="Times New Roman"/>
              <a:buChar char="●"/>
            </a:pPr>
            <a:r>
              <a:rPr lang="de-DE" sz="1500">
                <a:latin typeface="Times New Roman"/>
                <a:ea typeface="Times New Roman"/>
                <a:cs typeface="Times New Roman"/>
                <a:sym typeface="Times New Roman"/>
              </a:rPr>
              <a:t>Its CNN tuned to mobile phone CPUs.</a:t>
            </a:r>
            <a:endParaRPr sz="1500">
              <a:latin typeface="Times New Roman"/>
              <a:ea typeface="Times New Roman"/>
              <a:cs typeface="Times New Roman"/>
              <a:sym typeface="Times New Roman"/>
            </a:endParaRPr>
          </a:p>
          <a:p>
            <a:pPr marL="457200" lvl="0" indent="-323850" algn="just" rtl="0">
              <a:spcBef>
                <a:spcPts val="0"/>
              </a:spcBef>
              <a:spcAft>
                <a:spcPts val="0"/>
              </a:spcAft>
              <a:buSzPts val="1500"/>
              <a:buFont typeface="Times New Roman"/>
              <a:buChar char="●"/>
            </a:pPr>
            <a:r>
              <a:rPr lang="de-DE" sz="1500">
                <a:solidFill>
                  <a:schemeClr val="dk1"/>
                </a:solidFill>
                <a:latin typeface="Times New Roman"/>
                <a:ea typeface="Times New Roman"/>
                <a:cs typeface="Times New Roman"/>
                <a:sym typeface="Times New Roman"/>
              </a:rPr>
              <a:t>Combination of hardware aware neural architecture search (NAS).</a:t>
            </a:r>
            <a:endParaRPr sz="1500">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SzPts val="1500"/>
              <a:buFont typeface="Times New Roman"/>
              <a:buChar char="●"/>
            </a:pPr>
            <a:r>
              <a:rPr lang="de-DE" sz="1600">
                <a:latin typeface="Times New Roman"/>
                <a:ea typeface="Times New Roman"/>
                <a:cs typeface="Times New Roman"/>
                <a:sym typeface="Times New Roman"/>
              </a:rPr>
              <a:t>La</a:t>
            </a:r>
            <a:r>
              <a:rPr lang="de-DE" sz="1600" b="0" i="0" u="none" strike="noStrike" cap="none">
                <a:solidFill>
                  <a:srgbClr val="000000"/>
                </a:solidFill>
                <a:latin typeface="Times New Roman"/>
                <a:ea typeface="Times New Roman"/>
                <a:cs typeface="Times New Roman"/>
                <a:sym typeface="Times New Roman"/>
              </a:rPr>
              <a:t>yers depends on the specific configuration (Small or Large)</a:t>
            </a:r>
            <a:r>
              <a:rPr lang="de-DE"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Good balance of speed and accuracy.</a:t>
            </a:r>
            <a:endParaRPr sz="1600">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SzPts val="1600"/>
              <a:buFont typeface="Times New Roman"/>
              <a:buChar char="●"/>
            </a:pPr>
            <a:r>
              <a:rPr lang="de-DE" sz="1600">
                <a:latin typeface="Times New Roman"/>
                <a:ea typeface="Times New Roman"/>
                <a:cs typeface="Times New Roman"/>
                <a:sym typeface="Times New Roman"/>
              </a:rPr>
              <a:t>Activation Function: Linear and Sigmoid</a:t>
            </a:r>
            <a:endParaRPr sz="16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11" descr="C:\Users\Manuel Kohl\Documents\Studium\Masterstudium BMT\SNN-Unit\Headline Gradient.png"/>
          <p:cNvPicPr preferRelativeResize="0"/>
          <p:nvPr/>
        </p:nvPicPr>
        <p:blipFill rotWithShape="1">
          <a:blip r:embed="rId3">
            <a:alphaModFix/>
          </a:blip>
          <a:srcRect/>
          <a:stretch/>
        </p:blipFill>
        <p:spPr>
          <a:xfrm>
            <a:off x="2214992" y="455379"/>
            <a:ext cx="6910177" cy="475547"/>
          </a:xfrm>
          <a:prstGeom prst="rect">
            <a:avLst/>
          </a:prstGeom>
          <a:noFill/>
          <a:ln>
            <a:noFill/>
          </a:ln>
        </p:spPr>
      </p:pic>
      <p:pic>
        <p:nvPicPr>
          <p:cNvPr id="311" name="Google Shape;311;p11"/>
          <p:cNvPicPr preferRelativeResize="0"/>
          <p:nvPr/>
        </p:nvPicPr>
        <p:blipFill rotWithShape="1">
          <a:blip r:embed="rId4">
            <a:alphaModFix/>
          </a:blip>
          <a:srcRect/>
          <a:stretch/>
        </p:blipFill>
        <p:spPr>
          <a:xfrm>
            <a:off x="-2283" y="0"/>
            <a:ext cx="2236107" cy="6858000"/>
          </a:xfrm>
          <a:prstGeom prst="rect">
            <a:avLst/>
          </a:prstGeom>
          <a:noFill/>
          <a:ln>
            <a:noFill/>
          </a:ln>
        </p:spPr>
      </p:pic>
      <p:pic>
        <p:nvPicPr>
          <p:cNvPr id="312" name="Google Shape;312;p11"/>
          <p:cNvPicPr preferRelativeResize="0"/>
          <p:nvPr/>
        </p:nvPicPr>
        <p:blipFill rotWithShape="1">
          <a:blip r:embed="rId5">
            <a:alphaModFix/>
          </a:blip>
          <a:srcRect/>
          <a:stretch/>
        </p:blipFill>
        <p:spPr>
          <a:xfrm>
            <a:off x="-2284" y="2889546"/>
            <a:ext cx="2236106" cy="745370"/>
          </a:xfrm>
          <a:prstGeom prst="rect">
            <a:avLst/>
          </a:prstGeom>
          <a:noFill/>
          <a:ln>
            <a:noFill/>
          </a:ln>
        </p:spPr>
      </p:pic>
      <p:sp>
        <p:nvSpPr>
          <p:cNvPr id="313" name="Google Shape;313;p11"/>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14" name="Google Shape;314;p11"/>
          <p:cNvSpPr txBox="1"/>
          <p:nvPr/>
        </p:nvSpPr>
        <p:spPr>
          <a:xfrm>
            <a:off x="215516" y="2230154"/>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Model</a:t>
            </a:r>
            <a:endParaRPr>
              <a:solidFill>
                <a:schemeClr val="lt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15" name="Google Shape;315;p11"/>
          <p:cNvSpPr txBox="1"/>
          <p:nvPr/>
        </p:nvSpPr>
        <p:spPr>
          <a:xfrm>
            <a:off x="2375756" y="6561346"/>
            <a:ext cx="6588732"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16" name="Google Shape;316;p11"/>
          <p:cNvSpPr txBox="1"/>
          <p:nvPr/>
        </p:nvSpPr>
        <p:spPr>
          <a:xfrm>
            <a:off x="2375781" y="62430"/>
            <a:ext cx="658860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317" name="Google Shape;317;p11"/>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pic>
        <p:nvPicPr>
          <p:cNvPr id="318" name="Google Shape;318;p11"/>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19" name="Google Shape;319;p11"/>
          <p:cNvSpPr txBox="1"/>
          <p:nvPr/>
        </p:nvSpPr>
        <p:spPr>
          <a:xfrm>
            <a:off x="3915450" y="5817050"/>
            <a:ext cx="3214800" cy="276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
        <p:nvSpPr>
          <p:cNvPr id="320" name="Google Shape;320;p11"/>
          <p:cNvSpPr txBox="1"/>
          <p:nvPr/>
        </p:nvSpPr>
        <p:spPr>
          <a:xfrm>
            <a:off x="2591782" y="131934"/>
            <a:ext cx="6588600" cy="4617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Different models</a:t>
            </a:r>
            <a:endParaRPr sz="2400" b="1" i="0" u="none" strike="noStrike" cap="none">
              <a:solidFill>
                <a:schemeClr val="accent1"/>
              </a:solidFill>
              <a:latin typeface="Calibri"/>
              <a:ea typeface="Calibri"/>
              <a:cs typeface="Calibri"/>
              <a:sym typeface="Calibri"/>
            </a:endParaRPr>
          </a:p>
        </p:txBody>
      </p:sp>
      <p:sp>
        <p:nvSpPr>
          <p:cNvPr id="321" name="Google Shape;321;p11"/>
          <p:cNvSpPr txBox="1"/>
          <p:nvPr/>
        </p:nvSpPr>
        <p:spPr>
          <a:xfrm>
            <a:off x="2628685" y="2174084"/>
            <a:ext cx="6082800" cy="2308800"/>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r>
              <a:rPr lang="de-DE" sz="1600" b="1">
                <a:solidFill>
                  <a:schemeClr val="dk1"/>
                </a:solidFill>
                <a:latin typeface="Times New Roman"/>
                <a:ea typeface="Times New Roman"/>
                <a:cs typeface="Times New Roman"/>
                <a:sym typeface="Times New Roman"/>
              </a:rPr>
              <a:t>ResNet-18 and 50:</a:t>
            </a:r>
            <a:endParaRPr b="1">
              <a:solidFill>
                <a:schemeClr val="dk1"/>
              </a:solidFill>
            </a:endParaRPr>
          </a:p>
          <a:p>
            <a:pPr marL="0" lvl="0" indent="0" algn="just" rtl="0">
              <a:spcBef>
                <a:spcPts val="0"/>
              </a:spcBef>
              <a:spcAft>
                <a:spcPts val="0"/>
              </a:spcAft>
              <a:buNone/>
            </a:pPr>
            <a:r>
              <a:rPr lang="de-DE" sz="1600">
                <a:solidFill>
                  <a:schemeClr val="dk1"/>
                </a:solidFill>
                <a:latin typeface="Times New Roman"/>
                <a:ea typeface="Times New Roman"/>
                <a:cs typeface="Times New Roman"/>
                <a:sym typeface="Times New Roman"/>
              </a:rPr>
              <a:t>ResNet (Residual Networks) is a deep convolutional neural network architecture that introduces residual connections to allow for the training of very deep networks by mitigating the vanishing gradient problem, making it easier to learn identity mappings.</a:t>
            </a:r>
            <a:endParaRPr sz="1600">
              <a:solidFill>
                <a:schemeClr val="dk1"/>
              </a:solidFill>
              <a:latin typeface="Times New Roman"/>
              <a:ea typeface="Times New Roman"/>
              <a:cs typeface="Times New Roman"/>
              <a:sym typeface="Times New Roman"/>
            </a:endParaRPr>
          </a:p>
          <a:p>
            <a:pPr marL="0" lvl="0" indent="-101600" algn="just" rtl="0">
              <a:spcBef>
                <a:spcPts val="0"/>
              </a:spcBef>
              <a:spcAft>
                <a:spcPts val="0"/>
              </a:spcAft>
              <a:buClr>
                <a:schemeClr val="dk1"/>
              </a:buClr>
              <a:buSzPts val="1600"/>
              <a:buChar char="•"/>
            </a:pPr>
            <a:r>
              <a:rPr lang="de-DE" sz="1600">
                <a:solidFill>
                  <a:schemeClr val="dk1"/>
                </a:solidFill>
                <a:latin typeface="Times New Roman"/>
                <a:ea typeface="Times New Roman"/>
                <a:cs typeface="Times New Roman"/>
                <a:sym typeface="Times New Roman"/>
              </a:rPr>
              <a:t>Initial Convolution: 1 layer</a:t>
            </a:r>
            <a:endParaRPr>
              <a:solidFill>
                <a:schemeClr val="dk1"/>
              </a:solidFill>
            </a:endParaRPr>
          </a:p>
          <a:p>
            <a:pPr marL="0" lvl="0" indent="-101600" algn="just" rtl="0">
              <a:spcBef>
                <a:spcPts val="0"/>
              </a:spcBef>
              <a:spcAft>
                <a:spcPts val="0"/>
              </a:spcAft>
              <a:buClr>
                <a:schemeClr val="dk1"/>
              </a:buClr>
              <a:buSzPts val="1600"/>
              <a:buChar char="•"/>
            </a:pPr>
            <a:r>
              <a:rPr lang="de-DE" sz="1600">
                <a:solidFill>
                  <a:schemeClr val="dk1"/>
                </a:solidFill>
                <a:latin typeface="Times New Roman"/>
                <a:ea typeface="Times New Roman"/>
                <a:cs typeface="Times New Roman"/>
                <a:sym typeface="Times New Roman"/>
              </a:rPr>
              <a:t>Residual Blocks: 4 blocks x 2 layers/block x 4 sets of blocks = 16 layers</a:t>
            </a:r>
            <a:endParaRPr>
              <a:solidFill>
                <a:schemeClr val="dk1"/>
              </a:solidFill>
            </a:endParaRPr>
          </a:p>
          <a:p>
            <a:pPr marL="0" lvl="0" indent="-101600" algn="just" rtl="0">
              <a:spcBef>
                <a:spcPts val="0"/>
              </a:spcBef>
              <a:spcAft>
                <a:spcPts val="0"/>
              </a:spcAft>
              <a:buClr>
                <a:schemeClr val="dk1"/>
              </a:buClr>
              <a:buSzPts val="1600"/>
              <a:buChar char="•"/>
            </a:pPr>
            <a:r>
              <a:rPr lang="de-DE" sz="1600">
                <a:solidFill>
                  <a:schemeClr val="dk1"/>
                </a:solidFill>
                <a:latin typeface="Times New Roman"/>
                <a:ea typeface="Times New Roman"/>
                <a:cs typeface="Times New Roman"/>
                <a:sym typeface="Times New Roman"/>
              </a:rPr>
              <a:t>Final Fully Connected Layer: 1 layer.</a:t>
            </a:r>
            <a:endParaRPr sz="1600">
              <a:solidFill>
                <a:schemeClr val="dk1"/>
              </a:solidFill>
              <a:latin typeface="Times New Roman"/>
              <a:ea typeface="Times New Roman"/>
              <a:cs typeface="Times New Roman"/>
              <a:sym typeface="Times New Roman"/>
            </a:endParaRPr>
          </a:p>
          <a:p>
            <a:pPr marL="0" lvl="0" indent="-101600" algn="just" rtl="0">
              <a:spcBef>
                <a:spcPts val="0"/>
              </a:spcBef>
              <a:spcAft>
                <a:spcPts val="0"/>
              </a:spcAft>
              <a:buClr>
                <a:schemeClr val="dk1"/>
              </a:buClr>
              <a:buSzPts val="1600"/>
              <a:buFont typeface="Times New Roman"/>
              <a:buChar char="•"/>
            </a:pPr>
            <a:r>
              <a:rPr lang="de-DE" sz="1600">
                <a:solidFill>
                  <a:schemeClr val="dk1"/>
                </a:solidFill>
                <a:latin typeface="Times New Roman"/>
                <a:ea typeface="Times New Roman"/>
                <a:cs typeface="Times New Roman"/>
                <a:sym typeface="Times New Roman"/>
              </a:rPr>
              <a:t>Activation Function: Sequential linear and Sigmoid </a:t>
            </a:r>
            <a:endParaRPr sz="16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12" descr="C:\Users\Manuel Kohl\Documents\Studium\Masterstudium BMT\SNN-Unit\Headline Gradient.png"/>
          <p:cNvPicPr preferRelativeResize="0"/>
          <p:nvPr/>
        </p:nvPicPr>
        <p:blipFill rotWithShape="1">
          <a:blip r:embed="rId3">
            <a:alphaModFix/>
          </a:blip>
          <a:srcRect/>
          <a:stretch/>
        </p:blipFill>
        <p:spPr>
          <a:xfrm>
            <a:off x="2233822" y="541185"/>
            <a:ext cx="6910177" cy="475547"/>
          </a:xfrm>
          <a:prstGeom prst="rect">
            <a:avLst/>
          </a:prstGeom>
          <a:noFill/>
          <a:ln>
            <a:noFill/>
          </a:ln>
        </p:spPr>
      </p:pic>
      <p:pic>
        <p:nvPicPr>
          <p:cNvPr id="327" name="Google Shape;327;p12"/>
          <p:cNvPicPr preferRelativeResize="0"/>
          <p:nvPr/>
        </p:nvPicPr>
        <p:blipFill rotWithShape="1">
          <a:blip r:embed="rId4">
            <a:alphaModFix/>
          </a:blip>
          <a:srcRect/>
          <a:stretch/>
        </p:blipFill>
        <p:spPr>
          <a:xfrm>
            <a:off x="-2283" y="0"/>
            <a:ext cx="2236107" cy="6858000"/>
          </a:xfrm>
          <a:prstGeom prst="rect">
            <a:avLst/>
          </a:prstGeom>
          <a:noFill/>
          <a:ln>
            <a:noFill/>
          </a:ln>
        </p:spPr>
      </p:pic>
      <p:pic>
        <p:nvPicPr>
          <p:cNvPr id="328" name="Google Shape;328;p12"/>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329" name="Google Shape;329;p12"/>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30" name="Google Shape;330;p12"/>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31" name="Google Shape;331;p12"/>
          <p:cNvSpPr txBox="1"/>
          <p:nvPr/>
        </p:nvSpPr>
        <p:spPr>
          <a:xfrm>
            <a:off x="2375756" y="6561346"/>
            <a:ext cx="6588732"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32" name="Google Shape;332;p12"/>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pic>
        <p:nvPicPr>
          <p:cNvPr id="333" name="Google Shape;333;p12"/>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34" name="Google Shape;334;p12"/>
          <p:cNvSpPr txBox="1"/>
          <p:nvPr/>
        </p:nvSpPr>
        <p:spPr>
          <a:xfrm>
            <a:off x="2794285" y="1085179"/>
            <a:ext cx="5763927" cy="468941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endParaRPr/>
          </a:p>
        </p:txBody>
      </p:sp>
      <p:sp>
        <p:nvSpPr>
          <p:cNvPr id="335" name="Google Shape;335;p12"/>
          <p:cNvSpPr txBox="1"/>
          <p:nvPr/>
        </p:nvSpPr>
        <p:spPr>
          <a:xfrm>
            <a:off x="2412554" y="82329"/>
            <a:ext cx="6646200" cy="461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Data Augmentation</a:t>
            </a:r>
            <a:endParaRPr sz="2400" b="1">
              <a:solidFill>
                <a:schemeClr val="accent1"/>
              </a:solidFill>
              <a:latin typeface="Times New Roman"/>
              <a:ea typeface="Times New Roman"/>
              <a:cs typeface="Times New Roman"/>
              <a:sym typeface="Times New Roman"/>
            </a:endParaRPr>
          </a:p>
        </p:txBody>
      </p:sp>
      <p:pic>
        <p:nvPicPr>
          <p:cNvPr id="336" name="Google Shape;336;p12"/>
          <p:cNvPicPr preferRelativeResize="0"/>
          <p:nvPr/>
        </p:nvPicPr>
        <p:blipFill>
          <a:blip r:embed="rId7">
            <a:alphaModFix/>
          </a:blip>
          <a:stretch>
            <a:fillRect/>
          </a:stretch>
        </p:blipFill>
        <p:spPr>
          <a:xfrm>
            <a:off x="2922298" y="993473"/>
            <a:ext cx="6136457" cy="4871051"/>
          </a:xfrm>
          <a:prstGeom prst="rect">
            <a:avLst/>
          </a:prstGeom>
          <a:noFill/>
          <a:ln>
            <a:noFill/>
          </a:ln>
        </p:spPr>
      </p:pic>
      <p:sp>
        <p:nvSpPr>
          <p:cNvPr id="337" name="Google Shape;337;p12"/>
          <p:cNvSpPr txBox="1"/>
          <p:nvPr/>
        </p:nvSpPr>
        <p:spPr>
          <a:xfrm>
            <a:off x="4154500" y="5843050"/>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dirty="0">
                <a:solidFill>
                  <a:schemeClr val="dk1"/>
                </a:solidFill>
                <a:latin typeface="Calibri"/>
                <a:ea typeface="Calibri"/>
                <a:cs typeface="Calibri"/>
                <a:sym typeface="Calibri"/>
              </a:rPr>
              <a:t>fig1.5. Xray images after augmentation</a:t>
            </a:r>
            <a:endParaRPr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g2ea34c68371_0_21"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343" name="Google Shape;343;g2ea34c68371_0_21"/>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344" name="Google Shape;344;g2ea34c68371_0_21"/>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345" name="Google Shape;345;g2ea34c68371_0_21"/>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46" name="Google Shape;346;g2ea34c68371_0_21"/>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47" name="Google Shape;347;g2ea34c68371_0_21"/>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48" name="Google Shape;348;g2ea34c68371_0_21"/>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pic>
        <p:nvPicPr>
          <p:cNvPr id="349" name="Google Shape;349;g2ea34c68371_0_21"/>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50" name="Google Shape;350;g2ea34c68371_0_21"/>
          <p:cNvSpPr txBox="1"/>
          <p:nvPr/>
        </p:nvSpPr>
        <p:spPr>
          <a:xfrm>
            <a:off x="2794285" y="1085179"/>
            <a:ext cx="5763900" cy="46893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endParaRPr/>
          </a:p>
        </p:txBody>
      </p:sp>
      <p:sp>
        <p:nvSpPr>
          <p:cNvPr id="351" name="Google Shape;351;g2ea34c68371_0_21"/>
          <p:cNvSpPr txBox="1"/>
          <p:nvPr/>
        </p:nvSpPr>
        <p:spPr>
          <a:xfrm>
            <a:off x="2412554" y="82329"/>
            <a:ext cx="6646200" cy="461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Distribution of datas without Oversampling</a:t>
            </a:r>
            <a:endParaRPr sz="2400" b="1">
              <a:solidFill>
                <a:schemeClr val="accent1"/>
              </a:solidFill>
              <a:latin typeface="Times New Roman"/>
              <a:ea typeface="Times New Roman"/>
              <a:cs typeface="Times New Roman"/>
              <a:sym typeface="Times New Roman"/>
            </a:endParaRPr>
          </a:p>
        </p:txBody>
      </p:sp>
      <p:pic>
        <p:nvPicPr>
          <p:cNvPr id="352" name="Google Shape;352;g2ea34c68371_0_21"/>
          <p:cNvPicPr preferRelativeResize="0"/>
          <p:nvPr/>
        </p:nvPicPr>
        <p:blipFill>
          <a:blip r:embed="rId7">
            <a:alphaModFix/>
          </a:blip>
          <a:stretch>
            <a:fillRect/>
          </a:stretch>
        </p:blipFill>
        <p:spPr>
          <a:xfrm>
            <a:off x="2525115" y="1349950"/>
            <a:ext cx="6290028" cy="4159875"/>
          </a:xfrm>
          <a:prstGeom prst="rect">
            <a:avLst/>
          </a:prstGeom>
          <a:noFill/>
          <a:ln>
            <a:noFill/>
          </a:ln>
        </p:spPr>
      </p:pic>
      <p:sp>
        <p:nvSpPr>
          <p:cNvPr id="353" name="Google Shape;353;g2ea34c68371_0_21"/>
          <p:cNvSpPr txBox="1"/>
          <p:nvPr/>
        </p:nvSpPr>
        <p:spPr>
          <a:xfrm>
            <a:off x="3930650" y="5509825"/>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fig.6. Class distribution before sampling </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g2ea2ee79703_0_8"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359" name="Google Shape;359;g2ea2ee79703_0_8"/>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360" name="Google Shape;360;g2ea2ee79703_0_8"/>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361" name="Google Shape;361;g2ea2ee79703_0_8"/>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62" name="Google Shape;362;g2ea2ee79703_0_8"/>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63" name="Google Shape;363;g2ea2ee79703_0_8"/>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64" name="Google Shape;364;g2ea2ee79703_0_8"/>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14</a:t>
            </a:fld>
            <a:endParaRPr sz="1200" b="0" i="0" u="none" strike="noStrike" cap="none">
              <a:solidFill>
                <a:schemeClr val="dk1"/>
              </a:solidFill>
              <a:latin typeface="Calibri"/>
              <a:ea typeface="Calibri"/>
              <a:cs typeface="Calibri"/>
              <a:sym typeface="Calibri"/>
            </a:endParaRPr>
          </a:p>
        </p:txBody>
      </p:sp>
      <p:pic>
        <p:nvPicPr>
          <p:cNvPr id="365" name="Google Shape;365;g2ea2ee79703_0_8"/>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66" name="Google Shape;366;g2ea2ee79703_0_8"/>
          <p:cNvSpPr txBox="1"/>
          <p:nvPr/>
        </p:nvSpPr>
        <p:spPr>
          <a:xfrm>
            <a:off x="2794285" y="1085179"/>
            <a:ext cx="5763900" cy="46893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endParaRPr/>
          </a:p>
        </p:txBody>
      </p:sp>
      <p:sp>
        <p:nvSpPr>
          <p:cNvPr id="367" name="Google Shape;367;g2ea2ee79703_0_8"/>
          <p:cNvSpPr txBox="1"/>
          <p:nvPr/>
        </p:nvSpPr>
        <p:spPr>
          <a:xfrm>
            <a:off x="2412554" y="82329"/>
            <a:ext cx="6646200" cy="461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Distribution of oversampled datas</a:t>
            </a:r>
            <a:endParaRPr sz="2400" b="1" i="0" u="none" strike="noStrike" cap="none">
              <a:solidFill>
                <a:schemeClr val="accent1"/>
              </a:solidFill>
              <a:latin typeface="Calibri"/>
              <a:ea typeface="Calibri"/>
              <a:cs typeface="Calibri"/>
              <a:sym typeface="Calibri"/>
            </a:endParaRPr>
          </a:p>
        </p:txBody>
      </p:sp>
      <p:pic>
        <p:nvPicPr>
          <p:cNvPr id="368" name="Google Shape;368;g2ea2ee79703_0_8"/>
          <p:cNvPicPr preferRelativeResize="0"/>
          <p:nvPr/>
        </p:nvPicPr>
        <p:blipFill>
          <a:blip r:embed="rId7">
            <a:alphaModFix/>
          </a:blip>
          <a:stretch>
            <a:fillRect/>
          </a:stretch>
        </p:blipFill>
        <p:spPr>
          <a:xfrm>
            <a:off x="2346950" y="1322325"/>
            <a:ext cx="6509425" cy="5031724"/>
          </a:xfrm>
          <a:prstGeom prst="rect">
            <a:avLst/>
          </a:prstGeom>
          <a:noFill/>
          <a:ln>
            <a:noFill/>
          </a:ln>
        </p:spPr>
      </p:pic>
      <p:sp>
        <p:nvSpPr>
          <p:cNvPr id="369" name="Google Shape;369;g2ea2ee79703_0_8"/>
          <p:cNvSpPr txBox="1"/>
          <p:nvPr/>
        </p:nvSpPr>
        <p:spPr>
          <a:xfrm>
            <a:off x="4020513" y="6315625"/>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fig.7. Class distribution after sampling</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g2ea34c68371_0_4" descr="C:\Users\Manuel Kohl\Documents\Studium\Masterstudium BMT\SNN-Unit\Headline Gradient.png"/>
          <p:cNvPicPr preferRelativeResize="0"/>
          <p:nvPr/>
        </p:nvPicPr>
        <p:blipFill rotWithShape="1">
          <a:blip r:embed="rId3">
            <a:alphaModFix/>
          </a:blip>
          <a:srcRect/>
          <a:stretch/>
        </p:blipFill>
        <p:spPr>
          <a:xfrm>
            <a:off x="2280560" y="350685"/>
            <a:ext cx="6910176" cy="475547"/>
          </a:xfrm>
          <a:prstGeom prst="rect">
            <a:avLst/>
          </a:prstGeom>
          <a:noFill/>
          <a:ln>
            <a:noFill/>
          </a:ln>
        </p:spPr>
      </p:pic>
      <p:pic>
        <p:nvPicPr>
          <p:cNvPr id="375" name="Google Shape;375;g2ea34c68371_0_4"/>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376" name="Google Shape;376;g2ea34c68371_0_4"/>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377" name="Google Shape;377;g2ea34c68371_0_4"/>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78" name="Google Shape;378;g2ea34c68371_0_4"/>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79" name="Google Shape;379;g2ea34c68371_0_4"/>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80" name="Google Shape;380;g2ea34c68371_0_4"/>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pic>
        <p:nvPicPr>
          <p:cNvPr id="381" name="Google Shape;381;g2ea34c68371_0_4"/>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82" name="Google Shape;382;g2ea34c68371_0_4"/>
          <p:cNvSpPr txBox="1"/>
          <p:nvPr/>
        </p:nvSpPr>
        <p:spPr>
          <a:xfrm>
            <a:off x="2412554" y="82329"/>
            <a:ext cx="6646200" cy="461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Arial"/>
              <a:buNone/>
            </a:pPr>
            <a:r>
              <a:rPr lang="de-DE" sz="2400" b="1">
                <a:solidFill>
                  <a:schemeClr val="accent1"/>
                </a:solidFill>
                <a:latin typeface="Calibri"/>
                <a:ea typeface="Calibri"/>
                <a:cs typeface="Calibri"/>
                <a:sym typeface="Calibri"/>
              </a:rPr>
              <a:t>Confusion Matrix of VGG16</a:t>
            </a:r>
            <a:endParaRPr sz="2400" b="1" i="0" u="none" strike="noStrike" cap="none">
              <a:solidFill>
                <a:schemeClr val="accent1"/>
              </a:solidFill>
              <a:latin typeface="Calibri"/>
              <a:ea typeface="Calibri"/>
              <a:cs typeface="Calibri"/>
              <a:sym typeface="Calibri"/>
            </a:endParaRPr>
          </a:p>
        </p:txBody>
      </p:sp>
      <p:pic>
        <p:nvPicPr>
          <p:cNvPr id="383" name="Google Shape;383;g2ea34c68371_0_4"/>
          <p:cNvPicPr preferRelativeResize="0"/>
          <p:nvPr/>
        </p:nvPicPr>
        <p:blipFill>
          <a:blip r:embed="rId7">
            <a:alphaModFix/>
          </a:blip>
          <a:stretch>
            <a:fillRect/>
          </a:stretch>
        </p:blipFill>
        <p:spPr>
          <a:xfrm>
            <a:off x="2876550" y="947607"/>
            <a:ext cx="6267450" cy="5210175"/>
          </a:xfrm>
          <a:prstGeom prst="rect">
            <a:avLst/>
          </a:prstGeom>
          <a:noFill/>
          <a:ln>
            <a:noFill/>
          </a:ln>
        </p:spPr>
      </p:pic>
      <p:sp>
        <p:nvSpPr>
          <p:cNvPr id="384" name="Google Shape;384;g2ea34c68371_0_4"/>
          <p:cNvSpPr txBox="1"/>
          <p:nvPr/>
        </p:nvSpPr>
        <p:spPr>
          <a:xfrm>
            <a:off x="3968750" y="6157775"/>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fig.8. Confusion Matrix of VGG16 </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g2ea34c68371_0_52" descr="C:\Users\Manuel Kohl\Documents\Studium\Masterstudium BMT\SNN-Unit\Headline Gradient.png"/>
          <p:cNvPicPr preferRelativeResize="0"/>
          <p:nvPr/>
        </p:nvPicPr>
        <p:blipFill rotWithShape="1">
          <a:blip r:embed="rId3">
            <a:alphaModFix/>
          </a:blip>
          <a:srcRect/>
          <a:stretch/>
        </p:blipFill>
        <p:spPr>
          <a:xfrm>
            <a:off x="2280560" y="260660"/>
            <a:ext cx="6910176" cy="475547"/>
          </a:xfrm>
          <a:prstGeom prst="rect">
            <a:avLst/>
          </a:prstGeom>
          <a:noFill/>
          <a:ln>
            <a:noFill/>
          </a:ln>
        </p:spPr>
      </p:pic>
      <p:pic>
        <p:nvPicPr>
          <p:cNvPr id="390" name="Google Shape;390;g2ea34c68371_0_52"/>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391" name="Google Shape;391;g2ea34c68371_0_52"/>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392" name="Google Shape;392;g2ea34c68371_0_52"/>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393" name="Google Shape;393;g2ea34c68371_0_52"/>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394" name="Google Shape;394;g2ea34c68371_0_52"/>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395" name="Google Shape;395;g2ea34c68371_0_52"/>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pic>
        <p:nvPicPr>
          <p:cNvPr id="396" name="Google Shape;396;g2ea34c68371_0_52"/>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397" name="Google Shape;397;g2ea34c68371_0_52"/>
          <p:cNvSpPr txBox="1"/>
          <p:nvPr/>
        </p:nvSpPr>
        <p:spPr>
          <a:xfrm>
            <a:off x="2412529" y="95254"/>
            <a:ext cx="6646200" cy="4617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SzPts val="2000"/>
              <a:buFont typeface="Arial"/>
              <a:buNone/>
            </a:pPr>
            <a:r>
              <a:rPr lang="de-DE" sz="2400" b="1">
                <a:solidFill>
                  <a:schemeClr val="accent1"/>
                </a:solidFill>
                <a:latin typeface="Calibri"/>
                <a:ea typeface="Calibri"/>
                <a:cs typeface="Calibri"/>
                <a:sym typeface="Calibri"/>
              </a:rPr>
              <a:t>Confusion Matrix of ResNet50</a:t>
            </a:r>
            <a:endParaRPr sz="2400" b="1">
              <a:solidFill>
                <a:schemeClr val="accent1"/>
              </a:solidFill>
              <a:latin typeface="Calibri"/>
              <a:ea typeface="Calibri"/>
              <a:cs typeface="Calibri"/>
              <a:sym typeface="Calibri"/>
            </a:endParaRPr>
          </a:p>
        </p:txBody>
      </p:sp>
      <p:pic>
        <p:nvPicPr>
          <p:cNvPr id="398" name="Google Shape;398;g2ea34c68371_0_52"/>
          <p:cNvPicPr preferRelativeResize="0"/>
          <p:nvPr/>
        </p:nvPicPr>
        <p:blipFill>
          <a:blip r:embed="rId7">
            <a:alphaModFix/>
          </a:blip>
          <a:stretch>
            <a:fillRect/>
          </a:stretch>
        </p:blipFill>
        <p:spPr>
          <a:xfrm>
            <a:off x="2876550" y="1183957"/>
            <a:ext cx="6267450" cy="5210175"/>
          </a:xfrm>
          <a:prstGeom prst="rect">
            <a:avLst/>
          </a:prstGeom>
          <a:noFill/>
          <a:ln>
            <a:noFill/>
          </a:ln>
        </p:spPr>
      </p:pic>
      <p:sp>
        <p:nvSpPr>
          <p:cNvPr id="399" name="Google Shape;399;g2ea34c68371_0_52"/>
          <p:cNvSpPr txBox="1"/>
          <p:nvPr/>
        </p:nvSpPr>
        <p:spPr>
          <a:xfrm>
            <a:off x="3987800" y="6394125"/>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fig.9. Confusion Matrix of ResNet50 </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pic>
        <p:nvPicPr>
          <p:cNvPr id="404" name="Google Shape;404;g2ea34c68371_0_66" descr="C:\Users\Manuel Kohl\Documents\Studium\Masterstudium BMT\SNN-Unit\Headline Gradient.png"/>
          <p:cNvPicPr preferRelativeResize="0"/>
          <p:nvPr/>
        </p:nvPicPr>
        <p:blipFill rotWithShape="1">
          <a:blip r:embed="rId3">
            <a:alphaModFix/>
          </a:blip>
          <a:srcRect/>
          <a:stretch/>
        </p:blipFill>
        <p:spPr>
          <a:xfrm>
            <a:off x="2280560" y="260660"/>
            <a:ext cx="6910176" cy="475547"/>
          </a:xfrm>
          <a:prstGeom prst="rect">
            <a:avLst/>
          </a:prstGeom>
          <a:noFill/>
          <a:ln>
            <a:noFill/>
          </a:ln>
        </p:spPr>
      </p:pic>
      <p:pic>
        <p:nvPicPr>
          <p:cNvPr id="405" name="Google Shape;405;g2ea34c68371_0_66"/>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06" name="Google Shape;406;g2ea34c68371_0_66"/>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407" name="Google Shape;407;g2ea34c68371_0_66"/>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08" name="Google Shape;408;g2ea34c68371_0_66"/>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409" name="Google Shape;409;g2ea34c68371_0_66"/>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10" name="Google Shape;410;g2ea34c68371_0_66"/>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pic>
        <p:nvPicPr>
          <p:cNvPr id="411" name="Google Shape;411;g2ea34c68371_0_66"/>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12" name="Google Shape;412;g2ea34c68371_0_66"/>
          <p:cNvSpPr txBox="1"/>
          <p:nvPr/>
        </p:nvSpPr>
        <p:spPr>
          <a:xfrm>
            <a:off x="2412529" y="95254"/>
            <a:ext cx="6646200" cy="4617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SzPts val="2000"/>
              <a:buFont typeface="Arial"/>
              <a:buNone/>
            </a:pPr>
            <a:r>
              <a:rPr lang="de-DE" sz="2400" b="1">
                <a:solidFill>
                  <a:schemeClr val="accent1"/>
                </a:solidFill>
                <a:latin typeface="Calibri"/>
                <a:ea typeface="Calibri"/>
                <a:cs typeface="Calibri"/>
                <a:sym typeface="Calibri"/>
              </a:rPr>
              <a:t>Best Model</a:t>
            </a:r>
            <a:endParaRPr sz="2400" b="1">
              <a:solidFill>
                <a:schemeClr val="accent1"/>
              </a:solidFill>
              <a:latin typeface="Calibri"/>
              <a:ea typeface="Calibri"/>
              <a:cs typeface="Calibri"/>
              <a:sym typeface="Calibri"/>
            </a:endParaRPr>
          </a:p>
        </p:txBody>
      </p:sp>
      <p:sp>
        <p:nvSpPr>
          <p:cNvPr id="413" name="Google Shape;413;g2ea34c68371_0_66"/>
          <p:cNvSpPr txBox="1"/>
          <p:nvPr/>
        </p:nvSpPr>
        <p:spPr>
          <a:xfrm>
            <a:off x="2412525" y="857250"/>
            <a:ext cx="7221000" cy="5048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de-DE" sz="1650" b="1" dirty="0">
                <a:solidFill>
                  <a:schemeClr val="dk1"/>
                </a:solidFill>
                <a:highlight>
                  <a:srgbClr val="FFFFFF"/>
                </a:highlight>
                <a:latin typeface="Times New Roman"/>
                <a:ea typeface="Times New Roman"/>
                <a:cs typeface="Times New Roman"/>
                <a:sym typeface="Times New Roman"/>
              </a:rPr>
              <a:t>Best </a:t>
            </a:r>
            <a:r>
              <a:rPr lang="de-DE" sz="1650" b="1" dirty="0" err="1">
                <a:solidFill>
                  <a:schemeClr val="dk1"/>
                </a:solidFill>
                <a:highlight>
                  <a:srgbClr val="FFFFFF"/>
                </a:highlight>
                <a:latin typeface="Times New Roman"/>
                <a:ea typeface="Times New Roman"/>
                <a:cs typeface="Times New Roman"/>
                <a:sym typeface="Times New Roman"/>
              </a:rPr>
              <a:t>hyperparameters</a:t>
            </a:r>
            <a:r>
              <a:rPr lang="de-DE" sz="1650" b="1" dirty="0">
                <a:solidFill>
                  <a:schemeClr val="dk1"/>
                </a:solidFill>
                <a:highlight>
                  <a:srgbClr val="FFFFFF"/>
                </a:highlight>
                <a:latin typeface="Times New Roman"/>
                <a:ea typeface="Times New Roman"/>
                <a:cs typeface="Times New Roman"/>
                <a:sym typeface="Times New Roman"/>
              </a:rPr>
              <a:t> </a:t>
            </a:r>
            <a:r>
              <a:rPr lang="de-DE" sz="1650" b="1" dirty="0" err="1">
                <a:solidFill>
                  <a:schemeClr val="dk1"/>
                </a:solidFill>
                <a:highlight>
                  <a:srgbClr val="FFFFFF"/>
                </a:highlight>
                <a:latin typeface="Times New Roman"/>
                <a:ea typeface="Times New Roman"/>
                <a:cs typeface="Times New Roman"/>
                <a:sym typeface="Times New Roman"/>
              </a:rPr>
              <a:t>for</a:t>
            </a:r>
            <a:r>
              <a:rPr lang="de-DE" sz="1650" b="1" dirty="0">
                <a:solidFill>
                  <a:schemeClr val="dk1"/>
                </a:solidFill>
                <a:highlight>
                  <a:srgbClr val="FFFFFF"/>
                </a:highlight>
                <a:latin typeface="Times New Roman"/>
                <a:ea typeface="Times New Roman"/>
                <a:cs typeface="Times New Roman"/>
                <a:sym typeface="Times New Roman"/>
              </a:rPr>
              <a:t> </a:t>
            </a:r>
            <a:r>
              <a:rPr lang="de-DE" sz="1650" b="1" dirty="0" err="1">
                <a:solidFill>
                  <a:schemeClr val="dk1"/>
                </a:solidFill>
                <a:highlight>
                  <a:srgbClr val="FFFFFF"/>
                </a:highlight>
                <a:latin typeface="Times New Roman"/>
                <a:ea typeface="Times New Roman"/>
                <a:cs typeface="Times New Roman"/>
                <a:sym typeface="Times New Roman"/>
              </a:rPr>
              <a:t>fold</a:t>
            </a:r>
            <a:r>
              <a:rPr lang="de-DE" sz="1650" b="1" dirty="0">
                <a:solidFill>
                  <a:schemeClr val="dk1"/>
                </a:solidFill>
                <a:highlight>
                  <a:srgbClr val="FFFFFF"/>
                </a:highlight>
                <a:latin typeface="Times New Roman"/>
                <a:ea typeface="Times New Roman"/>
                <a:cs typeface="Times New Roman"/>
                <a:sym typeface="Times New Roman"/>
              </a:rPr>
              <a:t> 3: {'</a:t>
            </a:r>
            <a:r>
              <a:rPr lang="de-DE" sz="1650" b="1" dirty="0" err="1">
                <a:solidFill>
                  <a:schemeClr val="dk1"/>
                </a:solidFill>
                <a:highlight>
                  <a:srgbClr val="FFFFFF"/>
                </a:highlight>
                <a:latin typeface="Times New Roman"/>
                <a:ea typeface="Times New Roman"/>
                <a:cs typeface="Times New Roman"/>
                <a:sym typeface="Times New Roman"/>
              </a:rPr>
              <a:t>learning_rate</a:t>
            </a:r>
            <a:r>
              <a:rPr lang="de-DE" sz="1650" b="1" dirty="0">
                <a:solidFill>
                  <a:schemeClr val="dk1"/>
                </a:solidFill>
                <a:highlight>
                  <a:srgbClr val="FFFFFF"/>
                </a:highlight>
                <a:latin typeface="Times New Roman"/>
                <a:ea typeface="Times New Roman"/>
                <a:cs typeface="Times New Roman"/>
                <a:sym typeface="Times New Roman"/>
              </a:rPr>
              <a:t>': 0.001, '</a:t>
            </a:r>
            <a:r>
              <a:rPr lang="de-DE" sz="1650" b="1" dirty="0" err="1">
                <a:solidFill>
                  <a:schemeClr val="dk1"/>
                </a:solidFill>
                <a:highlight>
                  <a:srgbClr val="FFFFFF"/>
                </a:highlight>
                <a:latin typeface="Times New Roman"/>
                <a:ea typeface="Times New Roman"/>
                <a:cs typeface="Times New Roman"/>
                <a:sym typeface="Times New Roman"/>
              </a:rPr>
              <a:t>num_epochs</a:t>
            </a:r>
            <a:r>
              <a:rPr lang="de-DE" sz="1650" b="1" dirty="0">
                <a:solidFill>
                  <a:schemeClr val="dk1"/>
                </a:solidFill>
                <a:highlight>
                  <a:srgbClr val="FFFFFF"/>
                </a:highlight>
                <a:latin typeface="Times New Roman"/>
                <a:ea typeface="Times New Roman"/>
                <a:cs typeface="Times New Roman"/>
                <a:sym typeface="Times New Roman"/>
              </a:rPr>
              <a:t>': 5}</a:t>
            </a:r>
            <a:endParaRPr sz="1650" b="1" dirty="0">
              <a:solidFill>
                <a:schemeClr val="dk1"/>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VGG-16 </a:t>
            </a:r>
            <a:r>
              <a:rPr lang="de-DE" sz="1650" dirty="0" err="1">
                <a:solidFill>
                  <a:srgbClr val="212121"/>
                </a:solidFill>
                <a:highlight>
                  <a:srgbClr val="FFFFFF"/>
                </a:highlight>
                <a:latin typeface="Courier New"/>
                <a:ea typeface="Courier New"/>
                <a:cs typeface="Courier New"/>
                <a:sym typeface="Courier New"/>
              </a:rPr>
              <a:t>Metrics</a:t>
            </a:r>
            <a:r>
              <a:rPr lang="de-DE" sz="1650" dirty="0">
                <a:solidFill>
                  <a:srgbClr val="212121"/>
                </a:solidFill>
                <a:highlight>
                  <a:srgbClr val="FFFFFF"/>
                </a:highlight>
                <a:latin typeface="Courier New"/>
                <a:ea typeface="Courier New"/>
                <a:cs typeface="Courier New"/>
                <a:sym typeface="Courier New"/>
              </a:rPr>
              <a:t>: [0.92309677 0.92363955 0.92309677 0.92306797 0.9230568 ]</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ResNet-50 </a:t>
            </a:r>
            <a:r>
              <a:rPr lang="de-DE" sz="1650" dirty="0" err="1">
                <a:solidFill>
                  <a:srgbClr val="212121"/>
                </a:solidFill>
                <a:highlight>
                  <a:srgbClr val="FFFFFF"/>
                </a:highlight>
                <a:latin typeface="Courier New"/>
                <a:ea typeface="Courier New"/>
                <a:cs typeface="Courier New"/>
                <a:sym typeface="Courier New"/>
              </a:rPr>
              <a:t>Metrics</a:t>
            </a:r>
            <a:r>
              <a:rPr lang="de-DE" sz="1650" dirty="0">
                <a:solidFill>
                  <a:srgbClr val="212121"/>
                </a:solidFill>
                <a:highlight>
                  <a:srgbClr val="FFFFFF"/>
                </a:highlight>
                <a:latin typeface="Courier New"/>
                <a:ea typeface="Courier New"/>
                <a:cs typeface="Courier New"/>
                <a:sym typeface="Courier New"/>
              </a:rPr>
              <a:t>: [0.96516129 0.96534196 0.96516129 0.96515872 0.96518388]</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The </a:t>
            </a:r>
            <a:r>
              <a:rPr lang="de-DE" sz="1650" dirty="0" err="1">
                <a:solidFill>
                  <a:srgbClr val="212121"/>
                </a:solidFill>
                <a:highlight>
                  <a:srgbClr val="FFFFFF"/>
                </a:highlight>
                <a:latin typeface="Courier New"/>
                <a:ea typeface="Courier New"/>
                <a:cs typeface="Courier New"/>
                <a:sym typeface="Courier New"/>
              </a:rPr>
              <a:t>best</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model</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is</a:t>
            </a:r>
            <a:r>
              <a:rPr lang="de-DE" sz="1650" dirty="0">
                <a:solidFill>
                  <a:srgbClr val="212121"/>
                </a:solidFill>
                <a:highlight>
                  <a:srgbClr val="FFFFFF"/>
                </a:highlight>
                <a:latin typeface="Courier New"/>
                <a:ea typeface="Courier New"/>
                <a:cs typeface="Courier New"/>
                <a:sym typeface="Courier New"/>
              </a:rPr>
              <a:t> ResNet-50</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ResNet-50 </a:t>
            </a:r>
            <a:r>
              <a:rPr lang="de-DE" sz="1650" dirty="0" err="1">
                <a:solidFill>
                  <a:srgbClr val="212121"/>
                </a:solidFill>
                <a:highlight>
                  <a:srgbClr val="FFFFFF"/>
                </a:highlight>
                <a:latin typeface="Courier New"/>
                <a:ea typeface="Courier New"/>
                <a:cs typeface="Courier New"/>
                <a:sym typeface="Courier New"/>
              </a:rPr>
              <a:t>Metrics</a:t>
            </a:r>
            <a:r>
              <a:rPr lang="de-DE" sz="1650" dirty="0">
                <a:solidFill>
                  <a:srgbClr val="212121"/>
                </a:solidFill>
                <a:highlight>
                  <a:srgbClr val="FFFFFF"/>
                </a:highlight>
                <a:latin typeface="Courier New"/>
                <a:ea typeface="Courier New"/>
                <a:cs typeface="Courier New"/>
                <a:sym typeface="Courier New"/>
              </a:rPr>
              <a:t>:</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err="1">
                <a:solidFill>
                  <a:srgbClr val="212121"/>
                </a:solidFill>
                <a:highlight>
                  <a:srgbClr val="FFFFFF"/>
                </a:highlight>
                <a:latin typeface="Courier New"/>
                <a:ea typeface="Courier New"/>
                <a:cs typeface="Courier New"/>
                <a:sym typeface="Courier New"/>
              </a:rPr>
              <a:t>Accuracy</a:t>
            </a:r>
            <a:r>
              <a:rPr lang="de-DE" sz="1650" dirty="0">
                <a:solidFill>
                  <a:srgbClr val="212121"/>
                </a:solidFill>
                <a:highlight>
                  <a:srgbClr val="FFFFFF"/>
                </a:highlight>
                <a:latin typeface="Courier New"/>
                <a:ea typeface="Courier New"/>
                <a:cs typeface="Courier New"/>
                <a:sym typeface="Courier New"/>
              </a:rPr>
              <a:t>: 0.9652</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Precision: 0.9653</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Recall: 0.9652</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F1 Score: 0.9652</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AUC-ROC: 0.9652</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ResNet-50 </a:t>
            </a:r>
            <a:r>
              <a:rPr lang="de-DE" sz="1650" dirty="0" err="1">
                <a:solidFill>
                  <a:srgbClr val="212121"/>
                </a:solidFill>
                <a:highlight>
                  <a:srgbClr val="FFFFFF"/>
                </a:highlight>
                <a:latin typeface="Courier New"/>
                <a:ea typeface="Courier New"/>
                <a:cs typeface="Courier New"/>
                <a:sym typeface="Courier New"/>
              </a:rPr>
              <a:t>Number</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of</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trainable</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parameters</a:t>
            </a:r>
            <a:r>
              <a:rPr lang="de-DE" sz="1650" dirty="0">
                <a:solidFill>
                  <a:srgbClr val="212121"/>
                </a:solidFill>
                <a:highlight>
                  <a:srgbClr val="FFFFFF"/>
                </a:highlight>
                <a:latin typeface="Courier New"/>
                <a:ea typeface="Courier New"/>
                <a:cs typeface="Courier New"/>
                <a:sym typeface="Courier New"/>
              </a:rPr>
              <a:t>: 23512130</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Running on </a:t>
            </a:r>
            <a:r>
              <a:rPr lang="de-DE" sz="1650" dirty="0" err="1">
                <a:solidFill>
                  <a:srgbClr val="212121"/>
                </a:solidFill>
                <a:highlight>
                  <a:srgbClr val="FFFFFF"/>
                </a:highlight>
                <a:latin typeface="Courier New"/>
                <a:ea typeface="Courier New"/>
                <a:cs typeface="Courier New"/>
                <a:sym typeface="Courier New"/>
              </a:rPr>
              <a:t>device</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cuda</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ResNet-50 Parameters and Hardware Profile:</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err="1">
                <a:solidFill>
                  <a:srgbClr val="212121"/>
                </a:solidFill>
                <a:highlight>
                  <a:srgbClr val="FFFFFF"/>
                </a:highlight>
                <a:latin typeface="Courier New"/>
                <a:ea typeface="Courier New"/>
                <a:cs typeface="Courier New"/>
                <a:sym typeface="Courier New"/>
              </a:rPr>
              <a:t>Number</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of</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trainable</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parameters</a:t>
            </a:r>
            <a:r>
              <a:rPr lang="de-DE" sz="1650" dirty="0">
                <a:solidFill>
                  <a:srgbClr val="212121"/>
                </a:solidFill>
                <a:highlight>
                  <a:srgbClr val="FFFFFF"/>
                </a:highlight>
                <a:latin typeface="Courier New"/>
                <a:ea typeface="Courier New"/>
                <a:cs typeface="Courier New"/>
                <a:sym typeface="Courier New"/>
              </a:rPr>
              <a:t>: 23512130</a:t>
            </a:r>
            <a:endParaRPr sz="1650" dirty="0">
              <a:solidFill>
                <a:srgbClr val="21212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de-DE" sz="1650" dirty="0">
                <a:solidFill>
                  <a:srgbClr val="212121"/>
                </a:solidFill>
                <a:highlight>
                  <a:srgbClr val="FFFFFF"/>
                </a:highlight>
                <a:latin typeface="Courier New"/>
                <a:ea typeface="Courier New"/>
                <a:cs typeface="Courier New"/>
                <a:sym typeface="Courier New"/>
              </a:rPr>
              <a:t>Running on </a:t>
            </a:r>
            <a:r>
              <a:rPr lang="de-DE" sz="1650" dirty="0" err="1">
                <a:solidFill>
                  <a:srgbClr val="212121"/>
                </a:solidFill>
                <a:highlight>
                  <a:srgbClr val="FFFFFF"/>
                </a:highlight>
                <a:latin typeface="Courier New"/>
                <a:ea typeface="Courier New"/>
                <a:cs typeface="Courier New"/>
                <a:sym typeface="Courier New"/>
              </a:rPr>
              <a:t>device</a:t>
            </a:r>
            <a:r>
              <a:rPr lang="de-DE" sz="1650" dirty="0">
                <a:solidFill>
                  <a:srgbClr val="212121"/>
                </a:solidFill>
                <a:highlight>
                  <a:srgbClr val="FFFFFF"/>
                </a:highlight>
                <a:latin typeface="Courier New"/>
                <a:ea typeface="Courier New"/>
                <a:cs typeface="Courier New"/>
                <a:sym typeface="Courier New"/>
              </a:rPr>
              <a:t>: </a:t>
            </a:r>
            <a:r>
              <a:rPr lang="de-DE" sz="1650" dirty="0" err="1">
                <a:solidFill>
                  <a:srgbClr val="212121"/>
                </a:solidFill>
                <a:highlight>
                  <a:srgbClr val="FFFFFF"/>
                </a:highlight>
                <a:latin typeface="Courier New"/>
                <a:ea typeface="Courier New"/>
                <a:cs typeface="Courier New"/>
                <a:sym typeface="Courier New"/>
              </a:rPr>
              <a:t>cuda</a:t>
            </a:r>
            <a:endParaRPr sz="2000" dirty="0"/>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pic>
        <p:nvPicPr>
          <p:cNvPr id="418" name="Google Shape;418;g2ea34c68371_0_82" descr="C:\Users\Manuel Kohl\Documents\Studium\Masterstudium BMT\SNN-Unit\Headline Gradient.png"/>
          <p:cNvPicPr preferRelativeResize="0"/>
          <p:nvPr/>
        </p:nvPicPr>
        <p:blipFill rotWithShape="1">
          <a:blip r:embed="rId3">
            <a:alphaModFix/>
          </a:blip>
          <a:srcRect/>
          <a:stretch/>
        </p:blipFill>
        <p:spPr>
          <a:xfrm>
            <a:off x="2280560" y="260660"/>
            <a:ext cx="6910176" cy="475547"/>
          </a:xfrm>
          <a:prstGeom prst="rect">
            <a:avLst/>
          </a:prstGeom>
          <a:noFill/>
          <a:ln>
            <a:noFill/>
          </a:ln>
        </p:spPr>
      </p:pic>
      <p:pic>
        <p:nvPicPr>
          <p:cNvPr id="419" name="Google Shape;419;g2ea34c68371_0_82"/>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20" name="Google Shape;420;g2ea34c68371_0_82"/>
          <p:cNvPicPr preferRelativeResize="0"/>
          <p:nvPr/>
        </p:nvPicPr>
        <p:blipFill rotWithShape="1">
          <a:blip r:embed="rId5">
            <a:alphaModFix/>
          </a:blip>
          <a:srcRect/>
          <a:stretch/>
        </p:blipFill>
        <p:spPr>
          <a:xfrm>
            <a:off x="-2284" y="3245394"/>
            <a:ext cx="2236106" cy="745370"/>
          </a:xfrm>
          <a:prstGeom prst="rect">
            <a:avLst/>
          </a:prstGeom>
          <a:noFill/>
          <a:ln>
            <a:noFill/>
          </a:ln>
        </p:spPr>
      </p:pic>
      <p:sp>
        <p:nvSpPr>
          <p:cNvPr id="421" name="Google Shape;421;g2ea34c68371_0_82"/>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22" name="Google Shape;422;g2ea34c68371_0_82"/>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Results</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423" name="Google Shape;423;g2ea34c68371_0_82"/>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24" name="Google Shape;424;g2ea34c68371_0_82"/>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pic>
        <p:nvPicPr>
          <p:cNvPr id="425" name="Google Shape;425;g2ea34c68371_0_82"/>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26" name="Google Shape;426;g2ea34c68371_0_82"/>
          <p:cNvSpPr txBox="1"/>
          <p:nvPr/>
        </p:nvSpPr>
        <p:spPr>
          <a:xfrm>
            <a:off x="2412529" y="95254"/>
            <a:ext cx="6646200" cy="4617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chemeClr val="dk1"/>
              </a:buClr>
              <a:buSzPts val="2000"/>
              <a:buFont typeface="Arial"/>
              <a:buNone/>
            </a:pPr>
            <a:r>
              <a:rPr lang="de-DE" sz="2400" b="1">
                <a:solidFill>
                  <a:schemeClr val="accent1"/>
                </a:solidFill>
                <a:latin typeface="Calibri"/>
                <a:ea typeface="Calibri"/>
                <a:cs typeface="Calibri"/>
                <a:sym typeface="Calibri"/>
              </a:rPr>
              <a:t>Inference</a:t>
            </a:r>
            <a:endParaRPr sz="2400" b="1">
              <a:solidFill>
                <a:schemeClr val="accent1"/>
              </a:solidFill>
              <a:latin typeface="Calibri"/>
              <a:ea typeface="Calibri"/>
              <a:cs typeface="Calibri"/>
              <a:sym typeface="Calibri"/>
            </a:endParaRPr>
          </a:p>
        </p:txBody>
      </p:sp>
      <p:sp>
        <p:nvSpPr>
          <p:cNvPr id="427" name="Google Shape;427;g2ea34c68371_0_82"/>
          <p:cNvSpPr txBox="1"/>
          <p:nvPr/>
        </p:nvSpPr>
        <p:spPr>
          <a:xfrm>
            <a:off x="3982738" y="5107025"/>
            <a:ext cx="3162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dirty="0">
                <a:solidFill>
                  <a:schemeClr val="dk1"/>
                </a:solidFill>
                <a:latin typeface="Calibri"/>
                <a:ea typeface="Calibri"/>
                <a:cs typeface="Calibri"/>
                <a:sym typeface="Calibri"/>
              </a:rPr>
              <a:t>fig.10. </a:t>
            </a:r>
            <a:r>
              <a:rPr lang="de-DE" dirty="0" err="1">
                <a:solidFill>
                  <a:schemeClr val="dk1"/>
                </a:solidFill>
                <a:latin typeface="Calibri"/>
                <a:ea typeface="Calibri"/>
                <a:cs typeface="Calibri"/>
                <a:sym typeface="Calibri"/>
              </a:rPr>
              <a:t>Inference</a:t>
            </a:r>
            <a:r>
              <a:rPr lang="de-DE" dirty="0">
                <a:solidFill>
                  <a:schemeClr val="dk1"/>
                </a:solidFill>
                <a:latin typeface="Calibri"/>
                <a:ea typeface="Calibri"/>
                <a:cs typeface="Calibri"/>
                <a:sym typeface="Calibri"/>
              </a:rPr>
              <a:t> </a:t>
            </a:r>
            <a:r>
              <a:rPr lang="de-DE" dirty="0" err="1">
                <a:solidFill>
                  <a:schemeClr val="dk1"/>
                </a:solidFill>
                <a:latin typeface="Calibri"/>
                <a:ea typeface="Calibri"/>
                <a:cs typeface="Calibri"/>
                <a:sym typeface="Calibri"/>
              </a:rPr>
              <a:t>prediction</a:t>
            </a:r>
            <a:endParaRPr dirty="0">
              <a:solidFill>
                <a:schemeClr val="dk1"/>
              </a:solidFill>
              <a:latin typeface="Calibri"/>
              <a:ea typeface="Calibri"/>
              <a:cs typeface="Calibri"/>
              <a:sym typeface="Calibri"/>
            </a:endParaRPr>
          </a:p>
        </p:txBody>
      </p:sp>
      <p:pic>
        <p:nvPicPr>
          <p:cNvPr id="428" name="Google Shape;428;g2ea34c68371_0_82"/>
          <p:cNvPicPr preferRelativeResize="0"/>
          <p:nvPr/>
        </p:nvPicPr>
        <p:blipFill>
          <a:blip r:embed="rId7">
            <a:alphaModFix/>
          </a:blip>
          <a:stretch>
            <a:fillRect/>
          </a:stretch>
        </p:blipFill>
        <p:spPr>
          <a:xfrm>
            <a:off x="2375750" y="864275"/>
            <a:ext cx="6376276" cy="42427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g2ea2ee79703_0_21"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434" name="Google Shape;434;g2ea2ee79703_0_21"/>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35" name="Google Shape;435;g2ea2ee79703_0_21"/>
          <p:cNvPicPr preferRelativeResize="0"/>
          <p:nvPr/>
        </p:nvPicPr>
        <p:blipFill rotWithShape="1">
          <a:blip r:embed="rId5">
            <a:alphaModFix/>
          </a:blip>
          <a:srcRect/>
          <a:stretch/>
        </p:blipFill>
        <p:spPr>
          <a:xfrm>
            <a:off x="-2284" y="3626394"/>
            <a:ext cx="2236106" cy="745370"/>
          </a:xfrm>
          <a:prstGeom prst="rect">
            <a:avLst/>
          </a:prstGeom>
          <a:noFill/>
          <a:ln>
            <a:noFill/>
          </a:ln>
        </p:spPr>
      </p:pic>
      <p:sp>
        <p:nvSpPr>
          <p:cNvPr id="436" name="Google Shape;436;g2ea2ee79703_0_21"/>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37" name="Google Shape;437;g2ea2ee79703_0_21"/>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Char char="●"/>
            </a:pPr>
            <a:r>
              <a:rPr lang="de-DE">
                <a:solidFill>
                  <a:schemeClr val="lt1"/>
                </a:solidFill>
              </a:rPr>
              <a:t>Discussion</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438" name="Google Shape;438;g2ea2ee79703_0_21"/>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39" name="Google Shape;439;g2ea2ee79703_0_21"/>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pic>
        <p:nvPicPr>
          <p:cNvPr id="440" name="Google Shape;440;g2ea2ee79703_0_21"/>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41" name="Google Shape;441;g2ea2ee79703_0_21"/>
          <p:cNvSpPr txBox="1"/>
          <p:nvPr/>
        </p:nvSpPr>
        <p:spPr>
          <a:xfrm>
            <a:off x="2412554" y="82329"/>
            <a:ext cx="66462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Comparison after k Fold cross validation and hypertuning</a:t>
            </a:r>
            <a:endParaRPr sz="2400" b="1" i="0" u="none" strike="noStrike" cap="none">
              <a:solidFill>
                <a:schemeClr val="accent1"/>
              </a:solidFill>
              <a:latin typeface="Calibri"/>
              <a:ea typeface="Calibri"/>
              <a:cs typeface="Calibri"/>
              <a:sym typeface="Calibri"/>
            </a:endParaRPr>
          </a:p>
        </p:txBody>
      </p:sp>
      <p:graphicFrame>
        <p:nvGraphicFramePr>
          <p:cNvPr id="442" name="Google Shape;442;g2ea2ee79703_0_21"/>
          <p:cNvGraphicFramePr/>
          <p:nvPr/>
        </p:nvGraphicFramePr>
        <p:xfrm>
          <a:off x="2304788" y="1016738"/>
          <a:ext cx="6444350" cy="2649750"/>
        </p:xfrm>
        <a:graphic>
          <a:graphicData uri="http://schemas.openxmlformats.org/drawingml/2006/table">
            <a:tbl>
              <a:tblPr>
                <a:noFill/>
                <a:tableStyleId>{08FF5620-8301-45EF-A05B-A71902BD6AFF}</a:tableStyleId>
              </a:tblPr>
              <a:tblGrid>
                <a:gridCol w="1354650">
                  <a:extLst>
                    <a:ext uri="{9D8B030D-6E8A-4147-A177-3AD203B41FA5}">
                      <a16:colId xmlns:a16="http://schemas.microsoft.com/office/drawing/2014/main" val="20000"/>
                    </a:ext>
                  </a:extLst>
                </a:gridCol>
                <a:gridCol w="1272425">
                  <a:extLst>
                    <a:ext uri="{9D8B030D-6E8A-4147-A177-3AD203B41FA5}">
                      <a16:colId xmlns:a16="http://schemas.microsoft.com/office/drawing/2014/main" val="20001"/>
                    </a:ext>
                  </a:extLst>
                </a:gridCol>
                <a:gridCol w="1272425">
                  <a:extLst>
                    <a:ext uri="{9D8B030D-6E8A-4147-A177-3AD203B41FA5}">
                      <a16:colId xmlns:a16="http://schemas.microsoft.com/office/drawing/2014/main" val="20002"/>
                    </a:ext>
                  </a:extLst>
                </a:gridCol>
                <a:gridCol w="1272425">
                  <a:extLst>
                    <a:ext uri="{9D8B030D-6E8A-4147-A177-3AD203B41FA5}">
                      <a16:colId xmlns:a16="http://schemas.microsoft.com/office/drawing/2014/main" val="20003"/>
                    </a:ext>
                  </a:extLst>
                </a:gridCol>
                <a:gridCol w="1272425">
                  <a:extLst>
                    <a:ext uri="{9D8B030D-6E8A-4147-A177-3AD203B41FA5}">
                      <a16:colId xmlns:a16="http://schemas.microsoft.com/office/drawing/2014/main" val="20004"/>
                    </a:ext>
                  </a:extLst>
                </a:gridCol>
              </a:tblGrid>
              <a:tr h="441625">
                <a:tc>
                  <a:txBody>
                    <a:bodyPr/>
                    <a:lstStyle/>
                    <a:p>
                      <a:pPr marL="0" lvl="0" indent="0" algn="l" rtl="0">
                        <a:spcBef>
                          <a:spcPts val="0"/>
                        </a:spcBef>
                        <a:spcAft>
                          <a:spcPts val="0"/>
                        </a:spcAft>
                        <a:buNone/>
                      </a:pPr>
                      <a:r>
                        <a:rPr lang="de-DE" dirty="0">
                          <a:solidFill>
                            <a:schemeClr val="lt1"/>
                          </a:solidFill>
                        </a:rPr>
                        <a:t>Models</a:t>
                      </a:r>
                      <a:endParaRPr dirty="0">
                        <a:solidFill>
                          <a:schemeClr val="lt1"/>
                        </a:solidFill>
                      </a:endParaRPr>
                    </a:p>
                  </a:txBody>
                  <a:tcPr marL="91425" marR="91425" marT="91425" marB="91425">
                    <a:solidFill>
                      <a:schemeClr val="dk2"/>
                    </a:solidFill>
                  </a:tcPr>
                </a:tc>
                <a:tc>
                  <a:txBody>
                    <a:bodyPr/>
                    <a:lstStyle/>
                    <a:p>
                      <a:pPr marL="0" lvl="0" indent="0" algn="l" rtl="0">
                        <a:spcBef>
                          <a:spcPts val="0"/>
                        </a:spcBef>
                        <a:spcAft>
                          <a:spcPts val="0"/>
                        </a:spcAft>
                        <a:buNone/>
                      </a:pPr>
                      <a:r>
                        <a:rPr lang="de-DE">
                          <a:solidFill>
                            <a:schemeClr val="lt1"/>
                          </a:solidFill>
                        </a:rPr>
                        <a:t>MobilNetV3</a:t>
                      </a:r>
                      <a:endParaRPr>
                        <a:solidFill>
                          <a:schemeClr val="lt1"/>
                        </a:solidFill>
                      </a:endParaRPr>
                    </a:p>
                  </a:txBody>
                  <a:tcPr marL="91425" marR="91425" marT="91425" marB="91425">
                    <a:solidFill>
                      <a:schemeClr val="dk2"/>
                    </a:solidFill>
                  </a:tcPr>
                </a:tc>
                <a:tc>
                  <a:txBody>
                    <a:bodyPr/>
                    <a:lstStyle/>
                    <a:p>
                      <a:pPr marL="0" lvl="0" indent="0" algn="l" rtl="0">
                        <a:spcBef>
                          <a:spcPts val="0"/>
                        </a:spcBef>
                        <a:spcAft>
                          <a:spcPts val="0"/>
                        </a:spcAft>
                        <a:buNone/>
                      </a:pPr>
                      <a:r>
                        <a:rPr lang="de-DE">
                          <a:solidFill>
                            <a:schemeClr val="lt1"/>
                          </a:solidFill>
                        </a:rPr>
                        <a:t>ResNet-18</a:t>
                      </a:r>
                      <a:endParaRPr>
                        <a:solidFill>
                          <a:schemeClr val="lt1"/>
                        </a:solidFill>
                      </a:endParaRPr>
                    </a:p>
                  </a:txBody>
                  <a:tcPr marL="91425" marR="91425" marT="91425" marB="91425">
                    <a:lnR w="9525" cap="flat" cmpd="sng">
                      <a:solidFill>
                        <a:srgbClr val="9E9E9E"/>
                      </a:solidFill>
                      <a:prstDash val="solid"/>
                      <a:round/>
                      <a:headEnd type="none" w="sm" len="sm"/>
                      <a:tailEnd type="none" w="sm" len="sm"/>
                    </a:lnR>
                    <a:solidFill>
                      <a:schemeClr val="dk2"/>
                    </a:solidFill>
                  </a:tcPr>
                </a:tc>
                <a:tc>
                  <a:txBody>
                    <a:bodyPr/>
                    <a:lstStyle/>
                    <a:p>
                      <a:pPr marL="0" lvl="0" indent="0" algn="l" rtl="0">
                        <a:spcBef>
                          <a:spcPts val="0"/>
                        </a:spcBef>
                        <a:spcAft>
                          <a:spcPts val="0"/>
                        </a:spcAft>
                        <a:buNone/>
                      </a:pPr>
                      <a:r>
                        <a:rPr lang="de-DE">
                          <a:solidFill>
                            <a:schemeClr val="lt1"/>
                          </a:solidFill>
                        </a:rPr>
                        <a:t>VGG16</a:t>
                      </a:r>
                      <a:endParaRPr>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de-DE">
                          <a:solidFill>
                            <a:schemeClr val="lt1"/>
                          </a:solidFill>
                        </a:rPr>
                        <a:t>ResNet-50</a:t>
                      </a:r>
                      <a:endParaRPr>
                        <a:solidFill>
                          <a:schemeClr val="lt1"/>
                        </a:solidFill>
                      </a:endParaRPr>
                    </a:p>
                  </a:txBody>
                  <a:tcPr marL="91425" marR="91425" marT="91425" marB="91425">
                    <a:lnL w="9525" cap="flat" cmpd="sng">
                      <a:solidFill>
                        <a:srgbClr val="9E9E9E"/>
                      </a:solidFill>
                      <a:prstDash val="solid"/>
                      <a:round/>
                      <a:headEnd type="none" w="sm" len="sm"/>
                      <a:tailEnd type="none" w="sm" len="sm"/>
                    </a:lnL>
                    <a:solidFill>
                      <a:schemeClr val="dk2"/>
                    </a:solidFill>
                  </a:tcPr>
                </a:tc>
                <a:extLst>
                  <a:ext uri="{0D108BD9-81ED-4DB2-BD59-A6C34878D82A}">
                    <a16:rowId xmlns:a16="http://schemas.microsoft.com/office/drawing/2014/main" val="10000"/>
                  </a:ext>
                </a:extLst>
              </a:tr>
              <a:tr h="441625">
                <a:tc>
                  <a:txBody>
                    <a:bodyPr/>
                    <a:lstStyle/>
                    <a:p>
                      <a:pPr marL="0" lvl="0" indent="0" algn="l" rtl="0">
                        <a:spcBef>
                          <a:spcPts val="0"/>
                        </a:spcBef>
                        <a:spcAft>
                          <a:spcPts val="0"/>
                        </a:spcAft>
                        <a:buNone/>
                      </a:pPr>
                      <a:r>
                        <a:rPr lang="de-DE"/>
                        <a:t>Accuracy</a:t>
                      </a:r>
                      <a:endParaRPr/>
                    </a:p>
                  </a:txBody>
                  <a:tcPr marL="91425" marR="91425" marT="91425" marB="91425"/>
                </a:tc>
                <a:tc>
                  <a:txBody>
                    <a:bodyPr/>
                    <a:lstStyle/>
                    <a:p>
                      <a:pPr marL="0" lvl="0" indent="0" algn="l" rtl="0">
                        <a:spcBef>
                          <a:spcPts val="0"/>
                        </a:spcBef>
                        <a:spcAft>
                          <a:spcPts val="0"/>
                        </a:spcAft>
                        <a:buNone/>
                      </a:pPr>
                      <a:r>
                        <a:rPr lang="de-DE" dirty="0"/>
                        <a:t>78.89</a:t>
                      </a:r>
                      <a:endParaRPr dirty="0"/>
                    </a:p>
                  </a:txBody>
                  <a:tcPr marL="91425" marR="91425" marT="91425" marB="91425"/>
                </a:tc>
                <a:tc>
                  <a:txBody>
                    <a:bodyPr/>
                    <a:lstStyle/>
                    <a:p>
                      <a:pPr marL="0" lvl="0" indent="0" algn="l" rtl="0">
                        <a:spcBef>
                          <a:spcPts val="0"/>
                        </a:spcBef>
                        <a:spcAft>
                          <a:spcPts val="0"/>
                        </a:spcAft>
                        <a:buNone/>
                      </a:pPr>
                      <a:r>
                        <a:rPr lang="de-DE"/>
                        <a:t>82.21</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de-DE" dirty="0"/>
                        <a:t>92.30</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de-DE"/>
                        <a:t>96.51</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1"/>
                  </a:ext>
                </a:extLst>
              </a:tr>
              <a:tr h="441625">
                <a:tc>
                  <a:txBody>
                    <a:bodyPr/>
                    <a:lstStyle/>
                    <a:p>
                      <a:pPr marL="0" lvl="0" indent="0" algn="l" rtl="0">
                        <a:spcBef>
                          <a:spcPts val="0"/>
                        </a:spcBef>
                        <a:spcAft>
                          <a:spcPts val="0"/>
                        </a:spcAft>
                        <a:buNone/>
                      </a:pPr>
                      <a:r>
                        <a:rPr lang="de-DE"/>
                        <a:t>Precision</a:t>
                      </a:r>
                      <a:endParaRPr/>
                    </a:p>
                  </a:txBody>
                  <a:tcPr marL="91425" marR="91425" marT="91425" marB="91425"/>
                </a:tc>
                <a:tc>
                  <a:txBody>
                    <a:bodyPr/>
                    <a:lstStyle/>
                    <a:p>
                      <a:pPr marL="0" lvl="0" indent="0" algn="l" rtl="0">
                        <a:spcBef>
                          <a:spcPts val="0"/>
                        </a:spcBef>
                        <a:spcAft>
                          <a:spcPts val="0"/>
                        </a:spcAft>
                        <a:buNone/>
                      </a:pPr>
                      <a:r>
                        <a:rPr lang="de-DE" dirty="0"/>
                        <a:t>70.76</a:t>
                      </a:r>
                      <a:endParaRPr dirty="0"/>
                    </a:p>
                  </a:txBody>
                  <a:tcPr marL="91425" marR="91425" marT="91425" marB="91425"/>
                </a:tc>
                <a:tc>
                  <a:txBody>
                    <a:bodyPr/>
                    <a:lstStyle/>
                    <a:p>
                      <a:pPr marL="0" lvl="0" indent="0" algn="l" rtl="0">
                        <a:spcBef>
                          <a:spcPts val="0"/>
                        </a:spcBef>
                        <a:spcAft>
                          <a:spcPts val="0"/>
                        </a:spcAft>
                        <a:buNone/>
                      </a:pPr>
                      <a:r>
                        <a:rPr lang="de-DE"/>
                        <a:t>86.16</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de-DE" dirty="0"/>
                        <a:t>92.34</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de-DE"/>
                        <a:t>96.51</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2"/>
                  </a:ext>
                </a:extLst>
              </a:tr>
              <a:tr h="441625">
                <a:tc>
                  <a:txBody>
                    <a:bodyPr/>
                    <a:lstStyle/>
                    <a:p>
                      <a:pPr marL="0" lvl="0" indent="0" algn="l" rtl="0">
                        <a:spcBef>
                          <a:spcPts val="0"/>
                        </a:spcBef>
                        <a:spcAft>
                          <a:spcPts val="0"/>
                        </a:spcAft>
                        <a:buNone/>
                      </a:pPr>
                      <a:r>
                        <a:rPr lang="de-DE"/>
                        <a:t>Recall</a:t>
                      </a:r>
                      <a:endParaRPr/>
                    </a:p>
                  </a:txBody>
                  <a:tcPr marL="91425" marR="91425" marT="91425" marB="91425"/>
                </a:tc>
                <a:tc>
                  <a:txBody>
                    <a:bodyPr/>
                    <a:lstStyle/>
                    <a:p>
                      <a:pPr marL="0" lvl="0" indent="0" algn="l" rtl="0">
                        <a:spcBef>
                          <a:spcPts val="0"/>
                        </a:spcBef>
                        <a:spcAft>
                          <a:spcPts val="0"/>
                        </a:spcAft>
                        <a:buNone/>
                      </a:pPr>
                      <a:r>
                        <a:rPr lang="de-DE" dirty="0"/>
                        <a:t>87.89</a:t>
                      </a:r>
                      <a:endParaRPr dirty="0"/>
                    </a:p>
                  </a:txBody>
                  <a:tcPr marL="91425" marR="91425" marT="91425" marB="91425"/>
                </a:tc>
                <a:tc>
                  <a:txBody>
                    <a:bodyPr/>
                    <a:lstStyle/>
                    <a:p>
                      <a:pPr marL="0" lvl="0" indent="0" algn="l" rtl="0">
                        <a:spcBef>
                          <a:spcPts val="0"/>
                        </a:spcBef>
                        <a:spcAft>
                          <a:spcPts val="0"/>
                        </a:spcAft>
                        <a:buNone/>
                      </a:pPr>
                      <a:r>
                        <a:rPr lang="de-DE"/>
                        <a:t>82.21</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de-DE" dirty="0"/>
                        <a:t>92.30</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de-DE"/>
                        <a:t>96.75</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3"/>
                  </a:ext>
                </a:extLst>
              </a:tr>
              <a:tr h="441625">
                <a:tc>
                  <a:txBody>
                    <a:bodyPr/>
                    <a:lstStyle/>
                    <a:p>
                      <a:pPr marL="0" lvl="0" indent="0" algn="l" rtl="0">
                        <a:spcBef>
                          <a:spcPts val="0"/>
                        </a:spcBef>
                        <a:spcAft>
                          <a:spcPts val="0"/>
                        </a:spcAft>
                        <a:buNone/>
                      </a:pPr>
                      <a:r>
                        <a:rPr lang="de-DE"/>
                        <a:t>f1 Score</a:t>
                      </a:r>
                      <a:endParaRPr/>
                    </a:p>
                  </a:txBody>
                  <a:tcPr marL="91425" marR="91425" marT="91425" marB="91425"/>
                </a:tc>
                <a:tc>
                  <a:txBody>
                    <a:bodyPr/>
                    <a:lstStyle/>
                    <a:p>
                      <a:pPr marL="0" lvl="0" indent="0" algn="l" rtl="0">
                        <a:spcBef>
                          <a:spcPts val="0"/>
                        </a:spcBef>
                        <a:spcAft>
                          <a:spcPts val="0"/>
                        </a:spcAft>
                        <a:buNone/>
                      </a:pPr>
                      <a:r>
                        <a:rPr lang="de-DE" dirty="0"/>
                        <a:t>76.87</a:t>
                      </a:r>
                      <a:endParaRPr dirty="0"/>
                    </a:p>
                  </a:txBody>
                  <a:tcPr marL="91425" marR="91425" marT="91425" marB="91425"/>
                </a:tc>
                <a:tc>
                  <a:txBody>
                    <a:bodyPr/>
                    <a:lstStyle/>
                    <a:p>
                      <a:pPr marL="0" lvl="0" indent="0" algn="l" rtl="0">
                        <a:spcBef>
                          <a:spcPts val="0"/>
                        </a:spcBef>
                        <a:spcAft>
                          <a:spcPts val="0"/>
                        </a:spcAft>
                        <a:buNone/>
                      </a:pPr>
                      <a:r>
                        <a:rPr lang="de-DE"/>
                        <a:t>80.55</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de-DE" dirty="0"/>
                        <a:t>92.34</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de-DE"/>
                        <a:t>96.54</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4"/>
                  </a:ext>
                </a:extLst>
              </a:tr>
              <a:tr h="441625">
                <a:tc>
                  <a:txBody>
                    <a:bodyPr/>
                    <a:lstStyle/>
                    <a:p>
                      <a:pPr marL="0" lvl="0" indent="0" algn="l" rtl="0">
                        <a:spcBef>
                          <a:spcPts val="0"/>
                        </a:spcBef>
                        <a:spcAft>
                          <a:spcPts val="0"/>
                        </a:spcAft>
                        <a:buNone/>
                      </a:pPr>
                      <a:r>
                        <a:rPr lang="de-DE"/>
                        <a:t>AUC-ROC</a:t>
                      </a:r>
                      <a:endParaRPr/>
                    </a:p>
                  </a:txBody>
                  <a:tcPr marL="91425" marR="91425" marT="91425" marB="91425"/>
                </a:tc>
                <a:tc>
                  <a:txBody>
                    <a:bodyPr/>
                    <a:lstStyle/>
                    <a:p>
                      <a:pPr marL="0" lvl="0" indent="0" algn="l" rtl="0">
                        <a:spcBef>
                          <a:spcPts val="0"/>
                        </a:spcBef>
                        <a:spcAft>
                          <a:spcPts val="0"/>
                        </a:spcAft>
                        <a:buNone/>
                      </a:pPr>
                      <a:r>
                        <a:rPr lang="de-DE" dirty="0"/>
                        <a:t>78.78</a:t>
                      </a:r>
                      <a:endParaRPr dirty="0"/>
                    </a:p>
                  </a:txBody>
                  <a:tcPr marL="91425" marR="91425" marT="91425" marB="91425"/>
                </a:tc>
                <a:tc>
                  <a:txBody>
                    <a:bodyPr/>
                    <a:lstStyle/>
                    <a:p>
                      <a:pPr marL="0" lvl="0" indent="0" algn="l" rtl="0">
                        <a:spcBef>
                          <a:spcPts val="0"/>
                        </a:spcBef>
                        <a:spcAft>
                          <a:spcPts val="0"/>
                        </a:spcAft>
                        <a:buNone/>
                      </a:pPr>
                      <a:r>
                        <a:rPr lang="de-DE" dirty="0"/>
                        <a:t>95.54</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de-DE" dirty="0"/>
                        <a:t>92.67</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de-DE" dirty="0"/>
                        <a:t>96.51</a:t>
                      </a:r>
                      <a:endParaRPr dirty="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bl>
          </a:graphicData>
        </a:graphic>
      </p:graphicFrame>
      <p:sp>
        <p:nvSpPr>
          <p:cNvPr id="443" name="Google Shape;443;g2ea2ee79703_0_21"/>
          <p:cNvSpPr txBox="1"/>
          <p:nvPr/>
        </p:nvSpPr>
        <p:spPr>
          <a:xfrm>
            <a:off x="2687349" y="3761350"/>
            <a:ext cx="58725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a:solidFill>
                  <a:schemeClr val="dk1"/>
                </a:solidFill>
                <a:latin typeface="Calibri"/>
                <a:ea typeface="Calibri"/>
                <a:cs typeface="Calibri"/>
                <a:sym typeface="Calibri"/>
              </a:rPr>
              <a:t>table.1. Comparison of models after k Fold cross validation and hypertuning</a:t>
            </a:r>
            <a:endParaRPr>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g2ea34c68371_0_38"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449" name="Google Shape;449;g2ea34c68371_0_38"/>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50" name="Google Shape;450;g2ea34c68371_0_38"/>
          <p:cNvPicPr preferRelativeResize="0"/>
          <p:nvPr/>
        </p:nvPicPr>
        <p:blipFill rotWithShape="1">
          <a:blip r:embed="rId5">
            <a:alphaModFix/>
          </a:blip>
          <a:srcRect/>
          <a:stretch/>
        </p:blipFill>
        <p:spPr>
          <a:xfrm>
            <a:off x="-2284" y="3626394"/>
            <a:ext cx="2236106" cy="745370"/>
          </a:xfrm>
          <a:prstGeom prst="rect">
            <a:avLst/>
          </a:prstGeom>
          <a:noFill/>
          <a:ln>
            <a:noFill/>
          </a:ln>
        </p:spPr>
      </p:pic>
      <p:sp>
        <p:nvSpPr>
          <p:cNvPr id="451" name="Google Shape;451;g2ea34c68371_0_38"/>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52" name="Google Shape;452;g2ea34c68371_0_38"/>
          <p:cNvSpPr txBox="1"/>
          <p:nvPr/>
        </p:nvSpPr>
        <p:spPr>
          <a:xfrm>
            <a:off x="215525" y="2135850"/>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Char char="●"/>
            </a:pPr>
            <a:r>
              <a:rPr lang="de-DE">
                <a:solidFill>
                  <a:schemeClr val="lt1"/>
                </a:solidFill>
              </a:rPr>
              <a:t>Discussion</a:t>
            </a:r>
            <a:endParaRPr>
              <a:solidFill>
                <a:schemeClr val="lt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453" name="Google Shape;453;g2ea34c68371_0_38"/>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54" name="Google Shape;454;g2ea34c68371_0_38"/>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pic>
        <p:nvPicPr>
          <p:cNvPr id="455" name="Google Shape;455;g2ea34c68371_0_38"/>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56" name="Google Shape;456;g2ea34c68371_0_38"/>
          <p:cNvSpPr txBox="1"/>
          <p:nvPr/>
        </p:nvSpPr>
        <p:spPr>
          <a:xfrm>
            <a:off x="2486679" y="119529"/>
            <a:ext cx="6646200" cy="585000"/>
          </a:xfrm>
          <a:prstGeom prst="rect">
            <a:avLst/>
          </a:prstGeom>
          <a:noFill/>
          <a:ln>
            <a:noFill/>
          </a:ln>
        </p:spPr>
        <p:txBody>
          <a:bodyPr spcFirstLastPara="1" wrap="square" lIns="91425" tIns="45700" rIns="91425" bIns="45700" anchor="t" anchorCtr="0">
            <a:spAutoFit/>
          </a:bodyPr>
          <a:lstStyle/>
          <a:p>
            <a:pPr marL="4572000" lvl="0" indent="0" algn="l" rtl="0">
              <a:spcBef>
                <a:spcPts val="0"/>
              </a:spcBef>
              <a:spcAft>
                <a:spcPts val="0"/>
              </a:spcAft>
              <a:buClr>
                <a:schemeClr val="dk1"/>
              </a:buClr>
              <a:buSzPts val="1100"/>
              <a:buFont typeface="Arial"/>
              <a:buNone/>
            </a:pPr>
            <a:r>
              <a:rPr lang="de-DE" sz="3200" b="1">
                <a:solidFill>
                  <a:schemeClr val="accent1"/>
                </a:solidFill>
                <a:latin typeface="Calibri"/>
                <a:ea typeface="Calibri"/>
                <a:cs typeface="Calibri"/>
                <a:sym typeface="Calibri"/>
              </a:rPr>
              <a:t>Discussion</a:t>
            </a:r>
            <a:endParaRPr sz="2400" b="1" i="0" u="none" strike="noStrike" cap="none">
              <a:solidFill>
                <a:schemeClr val="accent1"/>
              </a:solidFill>
              <a:latin typeface="Calibri"/>
              <a:ea typeface="Calibri"/>
              <a:cs typeface="Calibri"/>
              <a:sym typeface="Calibri"/>
            </a:endParaRPr>
          </a:p>
        </p:txBody>
      </p:sp>
      <p:sp>
        <p:nvSpPr>
          <p:cNvPr id="457" name="Google Shape;457;g2ea34c68371_0_38"/>
          <p:cNvSpPr txBox="1"/>
          <p:nvPr/>
        </p:nvSpPr>
        <p:spPr>
          <a:xfrm>
            <a:off x="3816125" y="2021150"/>
            <a:ext cx="39873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458" name="Google Shape;458;g2ea34c68371_0_38"/>
          <p:cNvSpPr txBox="1"/>
          <p:nvPr/>
        </p:nvSpPr>
        <p:spPr>
          <a:xfrm>
            <a:off x="2943100" y="440400"/>
            <a:ext cx="5318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accent1"/>
              </a:solidFill>
              <a:latin typeface="Calibri"/>
              <a:ea typeface="Calibri"/>
              <a:cs typeface="Calibri"/>
              <a:sym typeface="Calibri"/>
            </a:endParaRPr>
          </a:p>
        </p:txBody>
      </p:sp>
      <p:sp>
        <p:nvSpPr>
          <p:cNvPr id="459" name="Google Shape;459;g2ea34c68371_0_38"/>
          <p:cNvSpPr txBox="1"/>
          <p:nvPr/>
        </p:nvSpPr>
        <p:spPr>
          <a:xfrm>
            <a:off x="2604950" y="1180400"/>
            <a:ext cx="6706200" cy="17238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Font typeface="Calibri"/>
              <a:buChar char="●"/>
            </a:pPr>
            <a:r>
              <a:rPr lang="de-DE" sz="2000">
                <a:solidFill>
                  <a:schemeClr val="dk1"/>
                </a:solidFill>
                <a:latin typeface="Calibri"/>
                <a:ea typeface="Calibri"/>
                <a:cs typeface="Calibri"/>
                <a:sym typeface="Calibri"/>
              </a:rPr>
              <a:t>ResNet 50 is the best model</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de-DE" sz="2000">
                <a:solidFill>
                  <a:schemeClr val="dk1"/>
                </a:solidFill>
                <a:latin typeface="Calibri"/>
                <a:ea typeface="Calibri"/>
                <a:cs typeface="Calibri"/>
                <a:sym typeface="Calibri"/>
              </a:rPr>
              <a:t>Learning rate 0.001</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de-DE" sz="2000">
                <a:solidFill>
                  <a:schemeClr val="dk1"/>
                </a:solidFill>
                <a:latin typeface="Calibri"/>
                <a:ea typeface="Calibri"/>
                <a:cs typeface="Calibri"/>
                <a:sym typeface="Calibri"/>
              </a:rPr>
              <a:t>Increasing epoch model becomes more accurate</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de-DE" sz="2000">
                <a:solidFill>
                  <a:schemeClr val="dk1"/>
                </a:solidFill>
                <a:latin typeface="Calibri"/>
                <a:ea typeface="Calibri"/>
                <a:cs typeface="Calibri"/>
                <a:sym typeface="Calibri"/>
              </a:rPr>
              <a:t>More batch size more memory and less time</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de-DE" sz="2000">
                <a:solidFill>
                  <a:schemeClr val="dk1"/>
                </a:solidFill>
                <a:latin typeface="Calibri"/>
                <a:ea typeface="Calibri"/>
                <a:cs typeface="Calibri"/>
                <a:sym typeface="Calibri"/>
              </a:rPr>
              <a:t>It is noted that GPU is more efficient than CPU</a:t>
            </a:r>
            <a:endParaRPr sz="20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3"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465" name="Google Shape;465;p13"/>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66" name="Google Shape;466;p13"/>
          <p:cNvPicPr preferRelativeResize="0"/>
          <p:nvPr/>
        </p:nvPicPr>
        <p:blipFill rotWithShape="1">
          <a:blip r:embed="rId5">
            <a:alphaModFix/>
          </a:blip>
          <a:srcRect/>
          <a:stretch/>
        </p:blipFill>
        <p:spPr>
          <a:xfrm>
            <a:off x="-2284" y="4052996"/>
            <a:ext cx="2236106" cy="745370"/>
          </a:xfrm>
          <a:prstGeom prst="rect">
            <a:avLst/>
          </a:prstGeom>
          <a:noFill/>
          <a:ln>
            <a:noFill/>
          </a:ln>
        </p:spPr>
      </p:pic>
      <p:sp>
        <p:nvSpPr>
          <p:cNvPr id="467" name="Google Shape;467;p13"/>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68" name="Google Shape;468;p13"/>
          <p:cNvSpPr txBox="1"/>
          <p:nvPr/>
        </p:nvSpPr>
        <p:spPr>
          <a:xfrm>
            <a:off x="215525" y="2167475"/>
            <a:ext cx="1890300" cy="31092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Future Work </a:t>
            </a:r>
            <a:endParaRPr>
              <a:solidFill>
                <a:schemeClr val="lt1"/>
              </a:solidFill>
              <a:latin typeface="Times New Roman"/>
              <a:ea typeface="Times New Roman"/>
              <a:cs typeface="Times New Roman"/>
              <a:sym typeface="Times New Roman"/>
            </a:endParaRPr>
          </a:p>
          <a:p>
            <a:pPr marL="251999" lvl="0" indent="-163099"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References</a:t>
            </a:r>
            <a:endParaRPr>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solidFill>
                <a:schemeClr val="dk1"/>
              </a:solidFill>
              <a:latin typeface="Times New Roman"/>
              <a:ea typeface="Times New Roman"/>
              <a:cs typeface="Times New Roman"/>
              <a:sym typeface="Times New Roman"/>
            </a:endParaRPr>
          </a:p>
        </p:txBody>
      </p:sp>
      <p:sp>
        <p:nvSpPr>
          <p:cNvPr id="469" name="Google Shape;469;p13"/>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70" name="Google Shape;470;p13"/>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pic>
        <p:nvPicPr>
          <p:cNvPr id="471" name="Google Shape;471;p13"/>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72" name="Google Shape;472;p13"/>
          <p:cNvSpPr txBox="1"/>
          <p:nvPr/>
        </p:nvSpPr>
        <p:spPr>
          <a:xfrm>
            <a:off x="2662301" y="83398"/>
            <a:ext cx="6588600" cy="461665"/>
          </a:xfrm>
          <a:prstGeom prst="rect">
            <a:avLst/>
          </a:prstGeom>
          <a:noFill/>
          <a:ln>
            <a:noFill/>
          </a:ln>
        </p:spPr>
        <p:txBody>
          <a:bodyPr spcFirstLastPara="1" wrap="square" lIns="91425" tIns="45700" rIns="91425" bIns="45700" anchor="t" anchorCtr="0">
            <a:spAutoFit/>
          </a:bodyPr>
          <a:lstStyle/>
          <a:p>
            <a:pPr marL="3657600" marR="0" lvl="0" indent="0" algn="ctr" rtl="0">
              <a:lnSpc>
                <a:spcPct val="100000"/>
              </a:lnSpc>
              <a:spcBef>
                <a:spcPts val="0"/>
              </a:spcBef>
              <a:spcAft>
                <a:spcPts val="0"/>
              </a:spcAft>
              <a:buClr>
                <a:schemeClr val="dk1"/>
              </a:buClr>
              <a:buSzPts val="2000"/>
              <a:buFont typeface="Arial"/>
              <a:buNone/>
            </a:pPr>
            <a:r>
              <a:rPr lang="de-DE" sz="2400" b="1">
                <a:solidFill>
                  <a:schemeClr val="accent1"/>
                </a:solidFill>
                <a:latin typeface="Times New Roman"/>
                <a:ea typeface="Times New Roman"/>
                <a:cs typeface="Times New Roman"/>
                <a:sym typeface="Times New Roman"/>
              </a:rPr>
              <a:t>Future works</a:t>
            </a:r>
            <a:endParaRPr sz="2400" b="1" i="0" u="none" strike="noStrike" cap="none">
              <a:solidFill>
                <a:schemeClr val="accent1"/>
              </a:solidFill>
              <a:latin typeface="Calibri"/>
              <a:ea typeface="Calibri"/>
              <a:cs typeface="Calibri"/>
              <a:sym typeface="Calibri"/>
            </a:endParaRPr>
          </a:p>
        </p:txBody>
      </p:sp>
      <p:sp>
        <p:nvSpPr>
          <p:cNvPr id="473" name="Google Shape;473;p13"/>
          <p:cNvSpPr txBox="1"/>
          <p:nvPr/>
        </p:nvSpPr>
        <p:spPr>
          <a:xfrm>
            <a:off x="2417906" y="1036387"/>
            <a:ext cx="6833100" cy="2308800"/>
          </a:xfrm>
          <a:prstGeom prst="rect">
            <a:avLst/>
          </a:prstGeom>
          <a:noFill/>
          <a:ln>
            <a:noFill/>
          </a:ln>
        </p:spPr>
        <p:txBody>
          <a:bodyPr spcFirstLastPara="1" wrap="square" lIns="91425" tIns="45700" rIns="91425" bIns="45700" anchor="t" anchorCtr="0">
            <a:spAutoFit/>
          </a:bodyPr>
          <a:lstStyle/>
          <a:p>
            <a:pPr marL="285750" marR="0" lvl="0" indent="-298450" algn="l" rtl="0">
              <a:lnSpc>
                <a:spcPct val="100000"/>
              </a:lnSpc>
              <a:spcBef>
                <a:spcPts val="0"/>
              </a:spcBef>
              <a:spcAft>
                <a:spcPts val="0"/>
              </a:spcAft>
              <a:buClr>
                <a:srgbClr val="000000"/>
              </a:buClr>
              <a:buSzPts val="1800"/>
              <a:buFont typeface="Arial"/>
              <a:buChar char="•"/>
            </a:pPr>
            <a:r>
              <a:rPr lang="de-DE" sz="1800" b="0" i="0" u="none" strike="noStrike" cap="none" dirty="0">
                <a:solidFill>
                  <a:srgbClr val="000000"/>
                </a:solidFill>
                <a:latin typeface="Times New Roman"/>
                <a:ea typeface="Times New Roman"/>
                <a:cs typeface="Times New Roman"/>
                <a:sym typeface="Times New Roman"/>
              </a:rPr>
              <a:t>Increase epochs </a:t>
            </a:r>
            <a:endParaRPr sz="1800" dirty="0"/>
          </a:p>
          <a:p>
            <a:pPr marL="285750" marR="0" lvl="0" indent="-298450" algn="l" rtl="0">
              <a:lnSpc>
                <a:spcPct val="100000"/>
              </a:lnSpc>
              <a:spcBef>
                <a:spcPts val="0"/>
              </a:spcBef>
              <a:spcAft>
                <a:spcPts val="0"/>
              </a:spcAft>
              <a:buClr>
                <a:srgbClr val="000000"/>
              </a:buClr>
              <a:buSzPts val="1800"/>
              <a:buFont typeface="Arial"/>
              <a:buChar char="•"/>
            </a:pPr>
            <a:r>
              <a:rPr lang="de-DE" sz="1800" b="0" i="0" u="none" strike="noStrike" cap="none" dirty="0">
                <a:solidFill>
                  <a:srgbClr val="000000"/>
                </a:solidFill>
                <a:latin typeface="Times New Roman"/>
                <a:ea typeface="Times New Roman"/>
                <a:cs typeface="Times New Roman"/>
                <a:sym typeface="Times New Roman"/>
              </a:rPr>
              <a:t>Increase the number of fold</a:t>
            </a:r>
            <a:endParaRPr sz="1800" dirty="0"/>
          </a:p>
          <a:p>
            <a:pPr marL="285750" marR="0" lvl="0" indent="-298450" algn="l" rtl="0">
              <a:lnSpc>
                <a:spcPct val="100000"/>
              </a:lnSpc>
              <a:spcBef>
                <a:spcPts val="0"/>
              </a:spcBef>
              <a:spcAft>
                <a:spcPts val="0"/>
              </a:spcAft>
              <a:buClr>
                <a:srgbClr val="000000"/>
              </a:buClr>
              <a:buSzPts val="1800"/>
              <a:buFont typeface="Arial"/>
              <a:buChar char="•"/>
            </a:pPr>
            <a:r>
              <a:rPr lang="de-DE" sz="1800" b="0" i="0" u="none" strike="noStrike" cap="none" dirty="0">
                <a:solidFill>
                  <a:srgbClr val="000000"/>
                </a:solidFill>
                <a:latin typeface="Times New Roman"/>
                <a:ea typeface="Times New Roman"/>
                <a:cs typeface="Times New Roman"/>
                <a:sym typeface="Times New Roman"/>
              </a:rPr>
              <a:t>Collect more data to improve the model performance</a:t>
            </a:r>
            <a:endParaRPr sz="1800" dirty="0"/>
          </a:p>
          <a:p>
            <a:pPr marL="285750" marR="0" lvl="0" indent="-298450" algn="l" rtl="0">
              <a:lnSpc>
                <a:spcPct val="100000"/>
              </a:lnSpc>
              <a:spcBef>
                <a:spcPts val="0"/>
              </a:spcBef>
              <a:spcAft>
                <a:spcPts val="0"/>
              </a:spcAft>
              <a:buClr>
                <a:srgbClr val="000000"/>
              </a:buClr>
              <a:buSzPts val="1800"/>
              <a:buFont typeface="Arial"/>
              <a:buChar char="•"/>
            </a:pPr>
            <a:r>
              <a:rPr lang="de-DE" sz="1800" b="0" i="0" u="none" strike="noStrike" cap="none" dirty="0">
                <a:solidFill>
                  <a:srgbClr val="000000"/>
                </a:solidFill>
                <a:latin typeface="Times New Roman"/>
                <a:ea typeface="Times New Roman"/>
                <a:cs typeface="Times New Roman"/>
                <a:sym typeface="Times New Roman"/>
              </a:rPr>
              <a:t>Experiment with other deep learning techniques</a:t>
            </a:r>
            <a:endParaRPr sz="1800" dirty="0"/>
          </a:p>
          <a:p>
            <a:pPr marL="285750" marR="0" lvl="0" indent="-184150" algn="l" rtl="0">
              <a:lnSpc>
                <a:spcPct val="100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Arial"/>
              <a:buNone/>
            </a:pPr>
            <a:endParaRPr sz="1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Google Shape;478;p14" descr="C:\Users\Manuel Kohl\Documents\Studium\Masterstudium BMT\SNN-Unit\Headline Gradient.png"/>
          <p:cNvPicPr preferRelativeResize="0"/>
          <p:nvPr/>
        </p:nvPicPr>
        <p:blipFill rotWithShape="1">
          <a:blip r:embed="rId3">
            <a:alphaModFix/>
          </a:blip>
          <a:srcRect/>
          <a:stretch/>
        </p:blipFill>
        <p:spPr>
          <a:xfrm>
            <a:off x="2233822" y="541185"/>
            <a:ext cx="6910176" cy="475547"/>
          </a:xfrm>
          <a:prstGeom prst="rect">
            <a:avLst/>
          </a:prstGeom>
          <a:noFill/>
          <a:ln>
            <a:noFill/>
          </a:ln>
        </p:spPr>
      </p:pic>
      <p:pic>
        <p:nvPicPr>
          <p:cNvPr id="479" name="Google Shape;479;p14"/>
          <p:cNvPicPr preferRelativeResize="0"/>
          <p:nvPr/>
        </p:nvPicPr>
        <p:blipFill rotWithShape="1">
          <a:blip r:embed="rId4">
            <a:alphaModFix/>
          </a:blip>
          <a:srcRect/>
          <a:stretch/>
        </p:blipFill>
        <p:spPr>
          <a:xfrm>
            <a:off x="-2283" y="0"/>
            <a:ext cx="2236108" cy="6858000"/>
          </a:xfrm>
          <a:prstGeom prst="rect">
            <a:avLst/>
          </a:prstGeom>
          <a:noFill/>
          <a:ln>
            <a:noFill/>
          </a:ln>
        </p:spPr>
      </p:pic>
      <p:pic>
        <p:nvPicPr>
          <p:cNvPr id="480" name="Google Shape;480;p14"/>
          <p:cNvPicPr preferRelativeResize="0"/>
          <p:nvPr/>
        </p:nvPicPr>
        <p:blipFill rotWithShape="1">
          <a:blip r:embed="rId5">
            <a:alphaModFix/>
          </a:blip>
          <a:srcRect/>
          <a:stretch/>
        </p:blipFill>
        <p:spPr>
          <a:xfrm>
            <a:off x="0" y="4428095"/>
            <a:ext cx="2236106" cy="745370"/>
          </a:xfrm>
          <a:prstGeom prst="rect">
            <a:avLst/>
          </a:prstGeom>
          <a:noFill/>
          <a:ln>
            <a:noFill/>
          </a:ln>
        </p:spPr>
      </p:pic>
      <p:sp>
        <p:nvSpPr>
          <p:cNvPr id="481" name="Google Shape;481;p14"/>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482" name="Google Shape;482;p14"/>
          <p:cNvSpPr txBox="1"/>
          <p:nvPr/>
        </p:nvSpPr>
        <p:spPr>
          <a:xfrm>
            <a:off x="215525" y="2167475"/>
            <a:ext cx="1890300" cy="31092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Methods</a:t>
            </a:r>
            <a:endParaRPr>
              <a:solidFill>
                <a:schemeClr val="dk1"/>
              </a:solidFill>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Model</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Results</a:t>
            </a:r>
            <a:endParaRPr>
              <a:solidFill>
                <a:schemeClr val="dk1"/>
              </a:solidFill>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Discussion</a:t>
            </a:r>
            <a:endParaRPr>
              <a:solidFill>
                <a:schemeClr val="dk1"/>
              </a:solidFill>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dk1"/>
              </a:buClr>
              <a:buSzPts val="1400"/>
              <a:buFont typeface="Noto Sans Symbols"/>
              <a:buChar char="▪"/>
            </a:pPr>
            <a:r>
              <a:rPr lang="de-DE">
                <a:solidFill>
                  <a:schemeClr val="dk1"/>
                </a:solidFill>
                <a:latin typeface="Times New Roman"/>
                <a:ea typeface="Times New Roman"/>
                <a:cs typeface="Times New Roman"/>
                <a:sym typeface="Times New Roman"/>
              </a:rPr>
              <a:t>Future Work </a:t>
            </a:r>
            <a:endParaRPr>
              <a:solidFill>
                <a:schemeClr val="dk1"/>
              </a:solidFill>
              <a:latin typeface="Times New Roman"/>
              <a:ea typeface="Times New Roman"/>
              <a:cs typeface="Times New Roman"/>
              <a:sym typeface="Times New Roman"/>
            </a:endParaRPr>
          </a:p>
          <a:p>
            <a:pPr marL="251999" lvl="0" indent="-163099" algn="l" rtl="0">
              <a:spcBef>
                <a:spcPts val="0"/>
              </a:spcBef>
              <a:spcAft>
                <a:spcPts val="0"/>
              </a:spcAft>
              <a:buClr>
                <a:schemeClr val="dk1"/>
              </a:buClr>
              <a:buSzPts val="1400"/>
              <a:buFont typeface="Noto Sans Symbols"/>
              <a:buNone/>
            </a:pPr>
            <a:endParaRPr>
              <a:solidFill>
                <a:schemeClr val="dk1"/>
              </a:solidFill>
              <a:latin typeface="Times New Roman"/>
              <a:ea typeface="Times New Roman"/>
              <a:cs typeface="Times New Roman"/>
              <a:sym typeface="Times New Roman"/>
            </a:endParaRPr>
          </a:p>
          <a:p>
            <a:pPr marL="251999" lvl="0" indent="-251999" algn="l" rtl="0">
              <a:spcBef>
                <a:spcPts val="0"/>
              </a:spcBef>
              <a:spcAft>
                <a:spcPts val="0"/>
              </a:spcAft>
              <a:buClr>
                <a:schemeClr val="lt1"/>
              </a:buClr>
              <a:buSzPts val="1400"/>
              <a:buFont typeface="Noto Sans Symbols"/>
              <a:buChar char="▪"/>
            </a:pPr>
            <a:r>
              <a:rPr lang="de-DE">
                <a:solidFill>
                  <a:schemeClr val="lt1"/>
                </a:solidFill>
                <a:latin typeface="Times New Roman"/>
                <a:ea typeface="Times New Roman"/>
                <a:cs typeface="Times New Roman"/>
                <a:sym typeface="Times New Roman"/>
              </a:rPr>
              <a:t>References</a:t>
            </a:r>
            <a:endParaRPr>
              <a:solidFill>
                <a:schemeClr val="lt1"/>
              </a:solidFill>
              <a:latin typeface="Times New Roman"/>
              <a:ea typeface="Times New Roman"/>
              <a:cs typeface="Times New Roman"/>
              <a:sym typeface="Times New Roman"/>
            </a:endParaRPr>
          </a:p>
          <a:p>
            <a:pPr marL="251999" marR="0" lvl="0" indent="-163099" algn="l" rtl="0">
              <a:lnSpc>
                <a:spcPct val="100000"/>
              </a:lnSpc>
              <a:spcBef>
                <a:spcPts val="0"/>
              </a:spcBef>
              <a:spcAft>
                <a:spcPts val="0"/>
              </a:spcAft>
              <a:buClr>
                <a:schemeClr val="dk1"/>
              </a:buClr>
              <a:buSzPts val="1400"/>
              <a:buFont typeface="Noto Sans Symbols"/>
              <a:buNone/>
            </a:pPr>
            <a:endParaRPr>
              <a:solidFill>
                <a:schemeClr val="lt1"/>
              </a:solidFill>
              <a:latin typeface="Calibri"/>
              <a:ea typeface="Calibri"/>
              <a:cs typeface="Calibri"/>
              <a:sym typeface="Calibri"/>
            </a:endParaRPr>
          </a:p>
        </p:txBody>
      </p:sp>
      <p:sp>
        <p:nvSpPr>
          <p:cNvPr id="483" name="Google Shape;483;p14"/>
          <p:cNvSpPr txBox="1"/>
          <p:nvPr/>
        </p:nvSpPr>
        <p:spPr>
          <a:xfrm>
            <a:off x="2375756" y="6561346"/>
            <a:ext cx="65886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484" name="Google Shape;484;p14"/>
          <p:cNvSpPr txBox="1"/>
          <p:nvPr/>
        </p:nvSpPr>
        <p:spPr>
          <a:xfrm>
            <a:off x="8171486" y="6581001"/>
            <a:ext cx="684900" cy="2769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pic>
        <p:nvPicPr>
          <p:cNvPr id="485" name="Google Shape;485;p14"/>
          <p:cNvPicPr preferRelativeResize="0"/>
          <p:nvPr/>
        </p:nvPicPr>
        <p:blipFill rotWithShape="1">
          <a:blip r:embed="rId6">
            <a:alphaModFix/>
          </a:blip>
          <a:srcRect/>
          <a:stretch/>
        </p:blipFill>
        <p:spPr>
          <a:xfrm>
            <a:off x="323528" y="260648"/>
            <a:ext cx="1481818" cy="1340556"/>
          </a:xfrm>
          <a:prstGeom prst="rect">
            <a:avLst/>
          </a:prstGeom>
          <a:noFill/>
          <a:ln>
            <a:noFill/>
          </a:ln>
        </p:spPr>
      </p:pic>
      <p:sp>
        <p:nvSpPr>
          <p:cNvPr id="486" name="Google Shape;486;p14"/>
          <p:cNvSpPr txBox="1"/>
          <p:nvPr/>
        </p:nvSpPr>
        <p:spPr>
          <a:xfrm>
            <a:off x="2662301" y="83398"/>
            <a:ext cx="65886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de-DE" sz="2400" b="1" i="0" u="none" strike="noStrike" cap="none">
                <a:solidFill>
                  <a:schemeClr val="accent1"/>
                </a:solidFill>
                <a:latin typeface="Times New Roman"/>
                <a:ea typeface="Times New Roman"/>
                <a:cs typeface="Times New Roman"/>
                <a:sym typeface="Times New Roman"/>
              </a:rPr>
              <a:t>Pneumonia Classification With Deep Learning</a:t>
            </a:r>
            <a:endParaRPr sz="2400" b="1" i="0" u="none" strike="noStrike" cap="none">
              <a:solidFill>
                <a:schemeClr val="accent1"/>
              </a:solidFill>
              <a:latin typeface="Calibri"/>
              <a:ea typeface="Calibri"/>
              <a:cs typeface="Calibri"/>
              <a:sym typeface="Calibri"/>
            </a:endParaRPr>
          </a:p>
        </p:txBody>
      </p:sp>
      <p:sp>
        <p:nvSpPr>
          <p:cNvPr id="487" name="Google Shape;487;p14"/>
          <p:cNvSpPr txBox="1"/>
          <p:nvPr/>
        </p:nvSpPr>
        <p:spPr>
          <a:xfrm>
            <a:off x="2253550" y="1016720"/>
            <a:ext cx="6833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1C85C58-A378-9738-B617-8C2F06BC48BB}"/>
              </a:ext>
            </a:extLst>
          </p:cNvPr>
          <p:cNvSpPr txBox="1"/>
          <p:nvPr/>
        </p:nvSpPr>
        <p:spPr>
          <a:xfrm>
            <a:off x="3051425" y="1086248"/>
            <a:ext cx="4623370" cy="1384995"/>
          </a:xfrm>
          <a:prstGeom prst="rect">
            <a:avLst/>
          </a:prstGeom>
          <a:noFill/>
        </p:spPr>
        <p:txBody>
          <a:bodyPr wrap="square">
            <a:spAutoFit/>
          </a:bodyPr>
          <a:lstStyle/>
          <a:p>
            <a:pPr marL="476250" lvl="0" indent="-342900" algn="just" rtl="0">
              <a:spcBef>
                <a:spcPts val="0"/>
              </a:spcBef>
              <a:spcAft>
                <a:spcPts val="0"/>
              </a:spcAft>
              <a:buClr>
                <a:schemeClr val="dk1"/>
              </a:buClr>
              <a:buSzPts val="1500"/>
              <a:buFont typeface="+mj-lt"/>
              <a:buAutoNum type="arabicPeriod"/>
            </a:pPr>
            <a:r>
              <a:rPr lang="en-US" sz="1400" u="sng" dirty="0">
                <a:solidFill>
                  <a:schemeClr val="hlink"/>
                </a:solidFill>
                <a:latin typeface="Times New Roman"/>
                <a:ea typeface="Times New Roman"/>
                <a:cs typeface="Times New Roman"/>
                <a:sym typeface="Times New Roman"/>
                <a:hlinkClick r:id="rId7"/>
              </a:rPr>
              <a:t>MobileNetV3 Explained | Papers With Code</a:t>
            </a:r>
            <a:endParaRPr lang="en-US" dirty="0">
              <a:solidFill>
                <a:schemeClr val="dk1"/>
              </a:solidFill>
              <a:ea typeface="Times New Roman"/>
            </a:endParaRPr>
          </a:p>
          <a:p>
            <a:pPr marL="476250" lvl="0" indent="-342900" algn="just" rtl="0">
              <a:spcBef>
                <a:spcPts val="0"/>
              </a:spcBef>
              <a:spcAft>
                <a:spcPts val="0"/>
              </a:spcAft>
              <a:buClr>
                <a:schemeClr val="dk1"/>
              </a:buClr>
              <a:buSzPts val="1500"/>
              <a:buFont typeface="+mj-lt"/>
              <a:buAutoNum type="arabicPeriod"/>
            </a:pPr>
            <a:r>
              <a:rPr lang="en-US" sz="1400" u="sng" dirty="0">
                <a:solidFill>
                  <a:schemeClr val="hlink"/>
                </a:solidFill>
                <a:latin typeface="Times New Roman"/>
                <a:ea typeface="Times New Roman"/>
                <a:cs typeface="Times New Roman"/>
                <a:sym typeface="Times New Roman"/>
                <a:hlinkClick r:id="rId8"/>
              </a:rPr>
              <a:t>VGG-16 | CNN model </a:t>
            </a:r>
            <a:r>
              <a:rPr lang="en-US" sz="1400" u="sng" dirty="0">
                <a:solidFill>
                  <a:schemeClr val="hlink"/>
                </a:solidFill>
                <a:latin typeface="Times New Roman"/>
                <a:ea typeface="Times New Roman"/>
                <a:cs typeface="Times New Roman"/>
                <a:sym typeface="Times New Roman"/>
                <a:hlinkClick r:id="rId9"/>
              </a:rPr>
              <a:t>–</a:t>
            </a:r>
            <a:r>
              <a:rPr lang="en-US" sz="1400" u="sng" dirty="0">
                <a:solidFill>
                  <a:schemeClr val="hlink"/>
                </a:solidFill>
                <a:latin typeface="Times New Roman"/>
                <a:ea typeface="Times New Roman"/>
                <a:cs typeface="Times New Roman"/>
                <a:sym typeface="Times New Roman"/>
                <a:hlinkClick r:id="rId8"/>
              </a:rPr>
              <a:t> </a:t>
            </a:r>
            <a:r>
              <a:rPr lang="en-US" sz="1400" u="sng" dirty="0" err="1">
                <a:solidFill>
                  <a:schemeClr val="hlink"/>
                </a:solidFill>
                <a:latin typeface="Times New Roman"/>
                <a:ea typeface="Times New Roman"/>
                <a:cs typeface="Times New Roman"/>
                <a:sym typeface="Times New Roman"/>
                <a:hlinkClick r:id="rId8"/>
              </a:rPr>
              <a:t>GeeksforGeeks</a:t>
            </a:r>
            <a:endParaRPr lang="en-US" dirty="0">
              <a:ea typeface="Times New Roman"/>
            </a:endParaRPr>
          </a:p>
          <a:p>
            <a:pPr marL="476250" lvl="0" indent="-342900" algn="just" rtl="0">
              <a:spcBef>
                <a:spcPts val="0"/>
              </a:spcBef>
              <a:spcAft>
                <a:spcPts val="0"/>
              </a:spcAft>
              <a:buClr>
                <a:schemeClr val="dk1"/>
              </a:buClr>
              <a:buSzPts val="1500"/>
              <a:buFont typeface="+mj-lt"/>
              <a:buAutoNum type="arabicPeriod"/>
            </a:pPr>
            <a:r>
              <a:rPr lang="en-US" sz="1400" u="sng" dirty="0">
                <a:solidFill>
                  <a:schemeClr val="hlink"/>
                </a:solidFill>
                <a:latin typeface="Times New Roman"/>
                <a:ea typeface="Times New Roman"/>
                <a:cs typeface="Times New Roman"/>
                <a:sym typeface="Times New Roman"/>
                <a:hlinkClick r:id="rId9"/>
              </a:rPr>
              <a:t>https://www.kaggle.com/</a:t>
            </a:r>
            <a:endParaRPr lang="en-US" dirty="0">
              <a:latin typeface="Times New Roman"/>
              <a:ea typeface="Times New Roman"/>
              <a:cs typeface="Times New Roman"/>
              <a:sym typeface="Times New Roman"/>
            </a:endParaRPr>
          </a:p>
          <a:p>
            <a:pPr marL="476250" lvl="0" indent="-342900" algn="just" rtl="0">
              <a:spcBef>
                <a:spcPts val="0"/>
              </a:spcBef>
              <a:spcAft>
                <a:spcPts val="0"/>
              </a:spcAft>
              <a:buClr>
                <a:schemeClr val="dk1"/>
              </a:buClr>
              <a:buSzPts val="1500"/>
              <a:buFont typeface="+mj-lt"/>
              <a:buAutoNum type="arabicPeriod"/>
            </a:pPr>
            <a:r>
              <a:rPr lang="en-US" sz="1400" u="sng" dirty="0">
                <a:solidFill>
                  <a:schemeClr val="hlink"/>
                </a:solidFill>
                <a:latin typeface="Times New Roman"/>
                <a:ea typeface="Times New Roman"/>
                <a:cs typeface="Times New Roman"/>
                <a:sym typeface="Times New Roman"/>
                <a:hlinkClick r:id="rId10"/>
              </a:rPr>
              <a:t>https://jupyter.org/</a:t>
            </a:r>
            <a:endParaRPr lang="en-US" dirty="0">
              <a:latin typeface="Times New Roman"/>
              <a:ea typeface="Times New Roman"/>
              <a:cs typeface="Times New Roman"/>
              <a:sym typeface="Times New Roman"/>
            </a:endParaRPr>
          </a:p>
          <a:p>
            <a:pPr marL="476250" lvl="0" indent="-342900" algn="just" rtl="0">
              <a:spcBef>
                <a:spcPts val="0"/>
              </a:spcBef>
              <a:spcAft>
                <a:spcPts val="0"/>
              </a:spcAft>
              <a:buClr>
                <a:schemeClr val="dk1"/>
              </a:buClr>
              <a:buSzPts val="1500"/>
              <a:buFont typeface="+mj-lt"/>
              <a:buAutoNum type="arabicPeriod"/>
            </a:pPr>
            <a:r>
              <a:rPr lang="en-US" sz="1400" u="sng" dirty="0">
                <a:solidFill>
                  <a:schemeClr val="hlink"/>
                </a:solidFill>
                <a:latin typeface="Times New Roman"/>
                <a:ea typeface="Times New Roman"/>
                <a:cs typeface="Times New Roman"/>
                <a:sym typeface="Times New Roman"/>
                <a:hlinkClick r:id="rId11"/>
              </a:rPr>
              <a:t>https://colab.google</a:t>
            </a:r>
            <a:r>
              <a:rPr lang="en-US" sz="1400" dirty="0">
                <a:latin typeface="Times New Roman"/>
                <a:ea typeface="Times New Roman"/>
                <a:cs typeface="Times New Roman"/>
                <a:sym typeface="Times New Roman"/>
                <a:hlinkClick r:id="rId11"/>
              </a:rPr>
              <a:t>/</a:t>
            </a:r>
            <a:endParaRPr lang="en-US" dirty="0">
              <a:latin typeface="Times New Roman"/>
              <a:ea typeface="Times New Roman"/>
              <a:cs typeface="Times New Roman"/>
              <a:sym typeface="Times New Roman"/>
            </a:endParaRPr>
          </a:p>
          <a:p>
            <a:pPr marL="476250" lvl="0" indent="-342900" algn="just" rtl="0">
              <a:spcBef>
                <a:spcPts val="0"/>
              </a:spcBef>
              <a:spcAft>
                <a:spcPts val="0"/>
              </a:spcAft>
              <a:buClr>
                <a:schemeClr val="dk1"/>
              </a:buClr>
              <a:buSzPts val="1500"/>
              <a:buFont typeface="+mj-lt"/>
              <a:buAutoNum type="arabicPeriod"/>
            </a:pPr>
            <a:r>
              <a:rPr lang="pt-BR" dirty="0">
                <a:hlinkClick r:id="rId12"/>
              </a:rPr>
              <a:t>NCS FINAL - Colab (google.com)</a:t>
            </a:r>
            <a:endParaRPr lang="en-US" sz="14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5"/>
          <p:cNvPicPr preferRelativeResize="0"/>
          <p:nvPr/>
        </p:nvPicPr>
        <p:blipFill rotWithShape="1">
          <a:blip r:embed="rId3">
            <a:alphaModFix/>
          </a:blip>
          <a:srcRect/>
          <a:stretch/>
        </p:blipFill>
        <p:spPr>
          <a:xfrm>
            <a:off x="-2283" y="0"/>
            <a:ext cx="2236107" cy="6858000"/>
          </a:xfrm>
          <a:prstGeom prst="rect">
            <a:avLst/>
          </a:prstGeom>
          <a:noFill/>
          <a:ln>
            <a:noFill/>
          </a:ln>
        </p:spPr>
      </p:pic>
      <p:pic>
        <p:nvPicPr>
          <p:cNvPr id="509" name="Google Shape;509;p15"/>
          <p:cNvPicPr preferRelativeResize="0"/>
          <p:nvPr/>
        </p:nvPicPr>
        <p:blipFill rotWithShape="1">
          <a:blip r:embed="rId4">
            <a:alphaModFix/>
          </a:blip>
          <a:srcRect/>
          <a:stretch/>
        </p:blipFill>
        <p:spPr>
          <a:xfrm>
            <a:off x="323528" y="260648"/>
            <a:ext cx="1481818" cy="1340556"/>
          </a:xfrm>
          <a:prstGeom prst="rect">
            <a:avLst/>
          </a:prstGeom>
          <a:noFill/>
          <a:ln>
            <a:noFill/>
          </a:ln>
        </p:spPr>
      </p:pic>
      <p:sp>
        <p:nvSpPr>
          <p:cNvPr id="510" name="Google Shape;510;p15"/>
          <p:cNvSpPr txBox="1"/>
          <p:nvPr/>
        </p:nvSpPr>
        <p:spPr>
          <a:xfrm>
            <a:off x="81698" y="6561348"/>
            <a:ext cx="19443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de-DE" sz="1200" b="0" i="0" u="none" strike="noStrike" cap="none">
                <a:solidFill>
                  <a:schemeClr val="dk1"/>
                </a:solidFill>
                <a:latin typeface="Calibri"/>
                <a:ea typeface="Calibri"/>
                <a:cs typeface="Calibri"/>
                <a:sym typeface="Calibri"/>
              </a:rPr>
              <a:t>05.07.2024</a:t>
            </a:r>
            <a:endParaRPr sz="1200" b="0" i="0" u="none" strike="noStrike" cap="none">
              <a:solidFill>
                <a:schemeClr val="dk1"/>
              </a:solidFill>
              <a:latin typeface="Calibri"/>
              <a:ea typeface="Calibri"/>
              <a:cs typeface="Calibri"/>
              <a:sym typeface="Calibri"/>
            </a:endParaRPr>
          </a:p>
        </p:txBody>
      </p:sp>
      <p:sp>
        <p:nvSpPr>
          <p:cNvPr id="511" name="Google Shape;511;p15"/>
          <p:cNvSpPr txBox="1"/>
          <p:nvPr/>
        </p:nvSpPr>
        <p:spPr>
          <a:xfrm>
            <a:off x="2373931" y="3332719"/>
            <a:ext cx="658873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de-DE" sz="2800" b="0" i="0" u="none" strike="noStrike" cap="none">
                <a:solidFill>
                  <a:schemeClr val="dk1"/>
                </a:solidFill>
                <a:latin typeface="Calibri"/>
                <a:ea typeface="Calibri"/>
                <a:cs typeface="Calibri"/>
                <a:sym typeface="Calibri"/>
              </a:rPr>
              <a:t>Thank you very much for your attention !</a:t>
            </a:r>
            <a:endParaRPr sz="2800" b="0" i="0" u="none" strike="noStrike" cap="none">
              <a:solidFill>
                <a:schemeClr val="dk1"/>
              </a:solidFill>
              <a:latin typeface="Calibri"/>
              <a:ea typeface="Calibri"/>
              <a:cs typeface="Calibri"/>
              <a:sym typeface="Calibri"/>
            </a:endParaRPr>
          </a:p>
        </p:txBody>
      </p:sp>
      <p:sp>
        <p:nvSpPr>
          <p:cNvPr id="512" name="Google Shape;512;p15"/>
          <p:cNvSpPr txBox="1"/>
          <p:nvPr/>
        </p:nvSpPr>
        <p:spPr>
          <a:xfrm>
            <a:off x="8171486" y="6581001"/>
            <a:ext cx="68499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sp>
        <p:nvSpPr>
          <p:cNvPr id="513" name="Google Shape;513;p15"/>
          <p:cNvSpPr txBox="1"/>
          <p:nvPr/>
        </p:nvSpPr>
        <p:spPr>
          <a:xfrm>
            <a:off x="2375756" y="246130"/>
            <a:ext cx="6588732"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1096</Words>
  <Application>Microsoft Office PowerPoint</Application>
  <PresentationFormat>On-screen Show (4:3)</PresentationFormat>
  <Paragraphs>479</Paragraphs>
  <Slides>23</Slides>
  <Notes>23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Courier New</vt:lpstr>
      <vt:lpstr>Noto Sans Symbols</vt:lpstr>
      <vt:lpstr>Questrial</vt:lpstr>
      <vt:lpstr>Times New Roman</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Asha Babu</cp:lastModifiedBy>
  <cp:revision>2</cp:revision>
  <dcterms:modified xsi:type="dcterms:W3CDTF">2024-07-05T21:20:51Z</dcterms:modified>
</cp:coreProperties>
</file>